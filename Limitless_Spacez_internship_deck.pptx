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20510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INTERNSHIP REPORT</a:t>
            </a:r>
            <a:endParaRPr lang="en-US" sz="1950" dirty="0"/>
          </a:p>
        </p:txBody>
      </p:sp>
      <p:sp>
        <p:nvSpPr>
          <p:cNvPr id="3" name="Text 1"/>
          <p:cNvSpPr/>
          <p:nvPr/>
        </p:nvSpPr>
        <p:spPr>
          <a:xfrm>
            <a:off x="952500" y="2612975"/>
            <a:ext cx="14716125" cy="2195959"/>
          </a:xfrm>
          <a:prstGeom prst="rect">
            <a:avLst/>
          </a:prstGeom>
          <a:noFill/>
          <a:ln/>
        </p:spPr>
        <p:txBody>
          <a:bodyPr wrap="square" lIns="25400" tIns="25400" rIns="25400" bIns="25400" rtlCol="0" anchor="t">
            <a:normAutofit/>
          </a:bodyPr>
          <a:lstStyle/>
          <a:p>
            <a:pPr algn="l" indent="0" marL="0">
              <a:lnSpc>
                <a:spcPct val="103452"/>
              </a:lnSpc>
              <a:buNone/>
            </a:pPr>
            <a:r>
              <a:rPr lang="en-US" sz="4800" b="1" dirty="0">
                <a:solidFill>
                  <a:srgbClr val="181412"/>
                </a:solidFill>
                <a:latin typeface="Georgia" pitchFamily="34" charset="0"/>
                <a:ea typeface="Georgia" pitchFamily="34" charset="-122"/>
                <a:cs typeface="Georgia" pitchFamily="34" charset="-120"/>
              </a:rPr>
              <a:t>Design and Development of a Full-Stack Web Platform for an Architecture and Interior Design Firm</a:t>
            </a:r>
            <a:endParaRPr lang="en-US" sz="4800" dirty="0"/>
          </a:p>
        </p:txBody>
      </p:sp>
      <p:sp>
        <p:nvSpPr>
          <p:cNvPr id="4" name="Text 2"/>
          <p:cNvSpPr/>
          <p:nvPr/>
        </p:nvSpPr>
        <p:spPr>
          <a:xfrm>
            <a:off x="952500" y="5075634"/>
            <a:ext cx="12753975" cy="998041"/>
          </a:xfrm>
          <a:prstGeom prst="rect">
            <a:avLst/>
          </a:prstGeom>
          <a:noFill/>
          <a:ln/>
        </p:spPr>
        <p:txBody>
          <a:bodyPr wrap="square" lIns="25400" tIns="25400" rIns="25400" bIns="25400" rtlCol="0" anchor="t">
            <a:normAutofit/>
          </a:bodyPr>
          <a:lstStyle/>
          <a:p>
            <a:pPr algn="l" indent="0" marL="0">
              <a:lnSpc>
                <a:spcPct val="120000"/>
              </a:lnSpc>
              <a:buNone/>
            </a:pPr>
            <a:r>
              <a:rPr lang="en-US" sz="2700" dirty="0">
                <a:solidFill>
                  <a:srgbClr val="5D5650"/>
                </a:solidFill>
                <a:latin typeface="Arial" pitchFamily="34" charset="0"/>
                <a:ea typeface="Arial" pitchFamily="34" charset="-122"/>
                <a:cs typeface="Arial" pitchFamily="34" charset="-120"/>
              </a:rPr>
              <a:t>Six-Month Internship Report on the Full-Stack Developer &amp; Design Intern role undertaken at Limitless Spacez, Greater Noida</a:t>
            </a:r>
            <a:endParaRPr lang="en-US" sz="2700" dirty="0"/>
          </a:p>
        </p:txBody>
      </p:sp>
      <p:sp>
        <p:nvSpPr>
          <p:cNvPr id="5" name="Shape 3"/>
          <p:cNvSpPr/>
          <p:nvPr/>
        </p:nvSpPr>
        <p:spPr>
          <a:xfrm>
            <a:off x="952500" y="6645176"/>
            <a:ext cx="16383000" cy="9525"/>
          </a:xfrm>
          <a:prstGeom prst="rect">
            <a:avLst/>
          </a:prstGeom>
          <a:solidFill>
            <a:srgbClr val="D5CCC7"/>
          </a:solidFill>
          <a:ln/>
        </p:spPr>
      </p:sp>
      <p:sp>
        <p:nvSpPr>
          <p:cNvPr id="6" name="Text 4"/>
          <p:cNvSpPr/>
          <p:nvPr/>
        </p:nvSpPr>
        <p:spPr>
          <a:xfrm>
            <a:off x="952500" y="6997601"/>
            <a:ext cx="7235696"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Submitted By</a:t>
            </a:r>
            <a:endParaRPr lang="en-US" sz="1950" dirty="0"/>
          </a:p>
        </p:txBody>
      </p:sp>
      <p:sp>
        <p:nvSpPr>
          <p:cNvPr id="7" name="Text 5"/>
          <p:cNvSpPr/>
          <p:nvPr/>
        </p:nvSpPr>
        <p:spPr>
          <a:xfrm>
            <a:off x="952500" y="7359551"/>
            <a:ext cx="7235696"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181412"/>
                </a:solidFill>
                <a:latin typeface="Arial" pitchFamily="34" charset="0"/>
                <a:ea typeface="Arial" pitchFamily="34" charset="-122"/>
                <a:cs typeface="Arial" pitchFamily="34" charset="-120"/>
              </a:rPr>
              <a:t>Shobhit Singh</a:t>
            </a:r>
            <a:endParaRPr lang="en-US" sz="2700" dirty="0"/>
          </a:p>
        </p:txBody>
      </p:sp>
      <p:sp>
        <p:nvSpPr>
          <p:cNvPr id="8" name="Text 6"/>
          <p:cNvSpPr/>
          <p:nvPr/>
        </p:nvSpPr>
        <p:spPr>
          <a:xfrm>
            <a:off x="952500" y="7816751"/>
            <a:ext cx="6775243"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Roll No. 2410030993 · Section 3CSE19 · Batch 2024–28</a:t>
            </a:r>
            <a:endParaRPr lang="en-US" sz="1950" dirty="0"/>
          </a:p>
        </p:txBody>
      </p:sp>
      <p:sp>
        <p:nvSpPr>
          <p:cNvPr id="9" name="Text 7"/>
          <p:cNvSpPr/>
          <p:nvPr/>
        </p:nvSpPr>
        <p:spPr>
          <a:xfrm>
            <a:off x="8140005" y="6997601"/>
            <a:ext cx="10115044"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Institution</a:t>
            </a:r>
            <a:endParaRPr lang="en-US" sz="1950" dirty="0"/>
          </a:p>
        </p:txBody>
      </p:sp>
      <p:sp>
        <p:nvSpPr>
          <p:cNvPr id="10" name="Text 8"/>
          <p:cNvSpPr/>
          <p:nvPr/>
        </p:nvSpPr>
        <p:spPr>
          <a:xfrm>
            <a:off x="8140005" y="7359551"/>
            <a:ext cx="10115044"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181412"/>
                </a:solidFill>
                <a:latin typeface="Arial" pitchFamily="34" charset="0"/>
                <a:ea typeface="Arial" pitchFamily="34" charset="-122"/>
                <a:cs typeface="Arial" pitchFamily="34" charset="-120"/>
              </a:rPr>
              <a:t>B.Tech Computer Science and Engineering</a:t>
            </a:r>
            <a:endParaRPr lang="en-US" sz="2700" dirty="0"/>
          </a:p>
        </p:txBody>
      </p:sp>
      <p:sp>
        <p:nvSpPr>
          <p:cNvPr id="11" name="Text 9"/>
          <p:cNvSpPr/>
          <p:nvPr/>
        </p:nvSpPr>
        <p:spPr>
          <a:xfrm>
            <a:off x="8140005" y="7816751"/>
            <a:ext cx="9471359"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School of Computer Science and Engineering, IILM University, Greater Noida</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Internship Overview</a:t>
            </a:r>
            <a:endParaRPr lang="en-US" sz="3750" dirty="0"/>
          </a:p>
        </p:txBody>
      </p:sp>
      <p:sp>
        <p:nvSpPr>
          <p:cNvPr id="4" name="Shape 2"/>
          <p:cNvSpPr/>
          <p:nvPr/>
        </p:nvSpPr>
        <p:spPr>
          <a:xfrm>
            <a:off x="952500" y="2333625"/>
            <a:ext cx="16383000" cy="9525"/>
          </a:xfrm>
          <a:prstGeom prst="rect">
            <a:avLst/>
          </a:prstGeom>
          <a:solidFill>
            <a:srgbClr val="D5CCC7"/>
          </a:solidFill>
          <a:ln/>
        </p:spPr>
      </p:sp>
      <p:sp>
        <p:nvSpPr>
          <p:cNvPr id="5" name="Text 3"/>
          <p:cNvSpPr/>
          <p:nvPr/>
        </p:nvSpPr>
        <p:spPr>
          <a:xfrm>
            <a:off x="952500" y="2590800"/>
            <a:ext cx="44005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Organization</a:t>
            </a:r>
            <a:endParaRPr lang="en-US" sz="1950" dirty="0"/>
          </a:p>
        </p:txBody>
      </p:sp>
      <p:sp>
        <p:nvSpPr>
          <p:cNvPr id="6" name="Text 4"/>
          <p:cNvSpPr/>
          <p:nvPr/>
        </p:nvSpPr>
        <p:spPr>
          <a:xfrm>
            <a:off x="4953000" y="2590800"/>
            <a:ext cx="6993568" cy="361950"/>
          </a:xfrm>
          <a:prstGeom prst="rect">
            <a:avLst/>
          </a:prstGeom>
          <a:noFill/>
          <a:ln/>
        </p:spPr>
        <p:txBody>
          <a:bodyPr wrap="square" lIns="25400" tIns="25400" rIns="25400" bIns="25400" rtlCol="0" anchor="t">
            <a:normAutofit/>
          </a:bodyPr>
          <a:lstStyle/>
          <a:p>
            <a:pPr algn="l" indent="0" marL="0">
              <a:buNone/>
            </a:pPr>
            <a:r>
              <a:rPr lang="en-US" sz="2175" dirty="0">
                <a:solidFill>
                  <a:srgbClr val="181412"/>
                </a:solidFill>
                <a:latin typeface="Arial" pitchFamily="34" charset="0"/>
                <a:ea typeface="Arial" pitchFamily="34" charset="-122"/>
                <a:cs typeface="Arial" pitchFamily="34" charset="-120"/>
              </a:rPr>
              <a:t>Limitless Spacez, Greater Noida, Uttar Pradesh</a:t>
            </a:r>
            <a:endParaRPr lang="en-US" sz="2175" dirty="0"/>
          </a:p>
        </p:txBody>
      </p:sp>
      <p:sp>
        <p:nvSpPr>
          <p:cNvPr id="7" name="Shape 5"/>
          <p:cNvSpPr/>
          <p:nvPr/>
        </p:nvSpPr>
        <p:spPr>
          <a:xfrm>
            <a:off x="952500" y="3162300"/>
            <a:ext cx="16383000" cy="9525"/>
          </a:xfrm>
          <a:prstGeom prst="rect">
            <a:avLst/>
          </a:prstGeom>
          <a:solidFill>
            <a:srgbClr val="D5CCC7"/>
          </a:solidFill>
          <a:ln/>
        </p:spPr>
      </p:sp>
      <p:sp>
        <p:nvSpPr>
          <p:cNvPr id="8" name="Text 6"/>
          <p:cNvSpPr/>
          <p:nvPr/>
        </p:nvSpPr>
        <p:spPr>
          <a:xfrm>
            <a:off x="952500" y="3419475"/>
            <a:ext cx="44005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Role</a:t>
            </a:r>
            <a:endParaRPr lang="en-US" sz="1950" dirty="0"/>
          </a:p>
        </p:txBody>
      </p:sp>
      <p:sp>
        <p:nvSpPr>
          <p:cNvPr id="9" name="Text 7"/>
          <p:cNvSpPr/>
          <p:nvPr/>
        </p:nvSpPr>
        <p:spPr>
          <a:xfrm>
            <a:off x="4953000" y="3419475"/>
            <a:ext cx="8517225" cy="361950"/>
          </a:xfrm>
          <a:prstGeom prst="rect">
            <a:avLst/>
          </a:prstGeom>
          <a:noFill/>
          <a:ln/>
        </p:spPr>
        <p:txBody>
          <a:bodyPr wrap="square" lIns="25400" tIns="25400" rIns="25400" bIns="25400" rtlCol="0" anchor="t">
            <a:normAutofit/>
          </a:bodyPr>
          <a:lstStyle/>
          <a:p>
            <a:pPr algn="l" indent="0" marL="0">
              <a:buNone/>
            </a:pPr>
            <a:r>
              <a:rPr lang="en-US" sz="2175" dirty="0">
                <a:solidFill>
                  <a:srgbClr val="181412"/>
                </a:solidFill>
                <a:latin typeface="Arial" pitchFamily="34" charset="0"/>
                <a:ea typeface="Arial" pitchFamily="34" charset="-122"/>
                <a:cs typeface="Arial" pitchFamily="34" charset="-120"/>
              </a:rPr>
              <a:t>Full-Stack Developer &amp; Design Intern — Full-time, Hybrid</a:t>
            </a:r>
            <a:endParaRPr lang="en-US" sz="2175" dirty="0"/>
          </a:p>
        </p:txBody>
      </p:sp>
      <p:sp>
        <p:nvSpPr>
          <p:cNvPr id="10" name="Shape 8"/>
          <p:cNvSpPr/>
          <p:nvPr/>
        </p:nvSpPr>
        <p:spPr>
          <a:xfrm>
            <a:off x="952500" y="3990975"/>
            <a:ext cx="16383000" cy="9525"/>
          </a:xfrm>
          <a:prstGeom prst="rect">
            <a:avLst/>
          </a:prstGeom>
          <a:solidFill>
            <a:srgbClr val="D5CCC7"/>
          </a:solidFill>
          <a:ln/>
        </p:spPr>
      </p:sp>
      <p:sp>
        <p:nvSpPr>
          <p:cNvPr id="11" name="Text 9"/>
          <p:cNvSpPr/>
          <p:nvPr/>
        </p:nvSpPr>
        <p:spPr>
          <a:xfrm>
            <a:off x="952500" y="4248150"/>
            <a:ext cx="44005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Duration</a:t>
            </a:r>
            <a:endParaRPr lang="en-US" sz="1950" dirty="0"/>
          </a:p>
        </p:txBody>
      </p:sp>
      <p:sp>
        <p:nvSpPr>
          <p:cNvPr id="12" name="Text 10"/>
          <p:cNvSpPr/>
          <p:nvPr/>
        </p:nvSpPr>
        <p:spPr>
          <a:xfrm>
            <a:off x="4953000" y="4248150"/>
            <a:ext cx="6494577" cy="361950"/>
          </a:xfrm>
          <a:prstGeom prst="rect">
            <a:avLst/>
          </a:prstGeom>
          <a:noFill/>
          <a:ln/>
        </p:spPr>
        <p:txBody>
          <a:bodyPr wrap="square" lIns="25400" tIns="25400" rIns="25400" bIns="25400" rtlCol="0" anchor="t">
            <a:normAutofit/>
          </a:bodyPr>
          <a:lstStyle/>
          <a:p>
            <a:pPr algn="l" indent="0" marL="0">
              <a:buNone/>
            </a:pPr>
            <a:r>
              <a:rPr lang="en-US" sz="2175" dirty="0">
                <a:solidFill>
                  <a:srgbClr val="181412"/>
                </a:solidFill>
                <a:latin typeface="Arial" pitchFamily="34" charset="0"/>
                <a:ea typeface="Arial" pitchFamily="34" charset="-122"/>
                <a:cs typeface="Arial" pitchFamily="34" charset="-120"/>
              </a:rPr>
              <a:t>05 January 2026 – 04 July 2026 (6 months)</a:t>
            </a:r>
            <a:endParaRPr lang="en-US" sz="2175" dirty="0"/>
          </a:p>
        </p:txBody>
      </p:sp>
      <p:sp>
        <p:nvSpPr>
          <p:cNvPr id="13" name="Shape 11"/>
          <p:cNvSpPr/>
          <p:nvPr/>
        </p:nvSpPr>
        <p:spPr>
          <a:xfrm>
            <a:off x="952500" y="4819650"/>
            <a:ext cx="16383000" cy="9525"/>
          </a:xfrm>
          <a:prstGeom prst="rect">
            <a:avLst/>
          </a:prstGeom>
          <a:solidFill>
            <a:srgbClr val="D5CCC7"/>
          </a:solidFill>
          <a:ln/>
        </p:spPr>
      </p:sp>
      <p:sp>
        <p:nvSpPr>
          <p:cNvPr id="14" name="Text 12"/>
          <p:cNvSpPr/>
          <p:nvPr/>
        </p:nvSpPr>
        <p:spPr>
          <a:xfrm>
            <a:off x="952500" y="5076825"/>
            <a:ext cx="44005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Supervisor</a:t>
            </a:r>
            <a:endParaRPr lang="en-US" sz="1950" dirty="0"/>
          </a:p>
        </p:txBody>
      </p:sp>
      <p:sp>
        <p:nvSpPr>
          <p:cNvPr id="15" name="Text 13"/>
          <p:cNvSpPr/>
          <p:nvPr/>
        </p:nvSpPr>
        <p:spPr>
          <a:xfrm>
            <a:off x="4953000" y="5076825"/>
            <a:ext cx="7244700" cy="361950"/>
          </a:xfrm>
          <a:prstGeom prst="rect">
            <a:avLst/>
          </a:prstGeom>
          <a:noFill/>
          <a:ln/>
        </p:spPr>
        <p:txBody>
          <a:bodyPr wrap="square" lIns="25400" tIns="25400" rIns="25400" bIns="25400" rtlCol="0" anchor="t">
            <a:normAutofit/>
          </a:bodyPr>
          <a:lstStyle/>
          <a:p>
            <a:pPr algn="l" indent="0" marL="0">
              <a:buNone/>
            </a:pPr>
            <a:r>
              <a:rPr lang="en-US" sz="2175" dirty="0">
                <a:solidFill>
                  <a:srgbClr val="181412"/>
                </a:solidFill>
                <a:latin typeface="Arial" pitchFamily="34" charset="0"/>
                <a:ea typeface="Arial" pitchFamily="34" charset="-122"/>
                <a:cs typeface="Arial" pitchFamily="34" charset="-120"/>
              </a:rPr>
              <a:t>Ar. Sanjay Gautam, Founder &amp; Principal Architect</a:t>
            </a:r>
            <a:endParaRPr lang="en-US" sz="2175" dirty="0"/>
          </a:p>
        </p:txBody>
      </p:sp>
      <p:sp>
        <p:nvSpPr>
          <p:cNvPr id="16" name="Shape 14"/>
          <p:cNvSpPr/>
          <p:nvPr/>
        </p:nvSpPr>
        <p:spPr>
          <a:xfrm>
            <a:off x="952500" y="6800850"/>
            <a:ext cx="16383000" cy="9525"/>
          </a:xfrm>
          <a:prstGeom prst="rect">
            <a:avLst/>
          </a:prstGeom>
          <a:solidFill>
            <a:srgbClr val="D5CCC7"/>
          </a:solidFill>
          <a:ln/>
        </p:spPr>
      </p:sp>
      <p:sp>
        <p:nvSpPr>
          <p:cNvPr id="17" name="Shape 15"/>
          <p:cNvSpPr/>
          <p:nvPr/>
        </p:nvSpPr>
        <p:spPr>
          <a:xfrm>
            <a:off x="952500" y="5648325"/>
            <a:ext cx="16383000" cy="9525"/>
          </a:xfrm>
          <a:prstGeom prst="rect">
            <a:avLst/>
          </a:prstGeom>
          <a:solidFill>
            <a:srgbClr val="D5CCC7"/>
          </a:solidFill>
          <a:ln/>
        </p:spPr>
      </p:sp>
      <p:sp>
        <p:nvSpPr>
          <p:cNvPr id="18" name="Text 16"/>
          <p:cNvSpPr/>
          <p:nvPr/>
        </p:nvSpPr>
        <p:spPr>
          <a:xfrm>
            <a:off x="952500" y="5905500"/>
            <a:ext cx="3208882" cy="6858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Deliverable</a:t>
            </a:r>
            <a:endParaRPr lang="en-US" sz="1950" dirty="0"/>
          </a:p>
        </p:txBody>
      </p:sp>
      <p:sp>
        <p:nvSpPr>
          <p:cNvPr id="19" name="Text 17"/>
          <p:cNvSpPr/>
          <p:nvPr/>
        </p:nvSpPr>
        <p:spPr>
          <a:xfrm>
            <a:off x="4067919" y="5905500"/>
            <a:ext cx="13665608" cy="685800"/>
          </a:xfrm>
          <a:prstGeom prst="rect">
            <a:avLst/>
          </a:prstGeom>
          <a:noFill/>
          <a:ln/>
        </p:spPr>
        <p:txBody>
          <a:bodyPr wrap="square" lIns="25400" tIns="25400" rIns="25400" bIns="25400" rtlCol="0" anchor="t">
            <a:normAutofit/>
          </a:bodyPr>
          <a:lstStyle/>
          <a:p>
            <a:pPr algn="l" indent="0" marL="0">
              <a:buNone/>
            </a:pPr>
            <a:r>
              <a:rPr lang="en-US" sz="2175" dirty="0">
                <a:solidFill>
                  <a:srgbClr val="181412"/>
                </a:solidFill>
                <a:latin typeface="Arial" pitchFamily="34" charset="0"/>
                <a:ea typeface="Arial" pitchFamily="34" charset="-122"/>
                <a:cs typeface="Arial" pitchFamily="34" charset="-120"/>
              </a:rPr>
              <a:t>The firm's live public platform at limitlessspacez.com, and the internal tooling to keep it current without a developer present</a:t>
            </a:r>
            <a:endParaRPr lang="en-US" sz="2175" dirty="0"/>
          </a:p>
        </p:txBody>
      </p:sp>
      <p:sp>
        <p:nvSpPr>
          <p:cNvPr id="20" name="Text 18"/>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21" name="Text 19"/>
          <p:cNvSpPr/>
          <p:nvPr/>
        </p:nvSpPr>
        <p:spPr>
          <a:xfrm>
            <a:off x="13771811" y="9677400"/>
            <a:ext cx="392005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About Limitless Spacez</a:t>
            </a:r>
            <a:endParaRPr lang="en-US" sz="3750" dirty="0"/>
          </a:p>
        </p:txBody>
      </p:sp>
      <p:sp>
        <p:nvSpPr>
          <p:cNvPr id="4" name="Text 2"/>
          <p:cNvSpPr/>
          <p:nvPr/>
        </p:nvSpPr>
        <p:spPr>
          <a:xfrm>
            <a:off x="952500" y="2333625"/>
            <a:ext cx="14716125" cy="1695450"/>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181412"/>
                </a:solidFill>
                <a:latin typeface="Arial" pitchFamily="34" charset="0"/>
                <a:ea typeface="Arial" pitchFamily="34" charset="-122"/>
                <a:cs typeface="Arial" pitchFamily="34" charset="-120"/>
              </a:rPr>
              <a:t>A premium architecture, interior design and construction firm operating out of Greater Noida, Uttar Pradesh, under the line “Design · Build · Deliver.” The firm is led by Ar. Sanjay Gautam, Founder &amp; Principal Architect, registered with the Council of Architecture (CA/2021/140523), and takes a project from initial design through statutory approval to completed construction.</a:t>
            </a:r>
            <a:endParaRPr lang="en-US" sz="2175" dirty="0"/>
          </a:p>
        </p:txBody>
      </p:sp>
      <p:sp>
        <p:nvSpPr>
          <p:cNvPr id="5" name="Shape 3"/>
          <p:cNvSpPr/>
          <p:nvPr/>
        </p:nvSpPr>
        <p:spPr>
          <a:xfrm>
            <a:off x="952500" y="4410075"/>
            <a:ext cx="3924300" cy="2491383"/>
          </a:xfrm>
          <a:prstGeom prst="roundRect">
            <a:avLst>
              <a:gd name="adj" fmla="val 1529"/>
            </a:avLst>
          </a:prstGeom>
          <a:solidFill>
            <a:srgbClr val="F0EDE8"/>
          </a:solidFill>
          <a:ln/>
        </p:spPr>
      </p:sp>
      <p:sp>
        <p:nvSpPr>
          <p:cNvPr id="6" name="Text 4"/>
          <p:cNvSpPr/>
          <p:nvPr/>
        </p:nvSpPr>
        <p:spPr>
          <a:xfrm>
            <a:off x="1219200" y="4714875"/>
            <a:ext cx="372999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181412"/>
                </a:solidFill>
                <a:latin typeface="Georgia" pitchFamily="34" charset="0"/>
                <a:ea typeface="Georgia" pitchFamily="34" charset="-122"/>
                <a:cs typeface="Georgia" pitchFamily="34" charset="-120"/>
              </a:rPr>
              <a:t>Architecture</a:t>
            </a:r>
            <a:endParaRPr lang="en-US" sz="2250" dirty="0"/>
          </a:p>
        </p:txBody>
      </p:sp>
      <p:sp>
        <p:nvSpPr>
          <p:cNvPr id="7" name="Text 5"/>
          <p:cNvSpPr/>
          <p:nvPr/>
        </p:nvSpPr>
        <p:spPr>
          <a:xfrm>
            <a:off x="1219200" y="5210175"/>
            <a:ext cx="3492627" cy="1424583"/>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5D5650"/>
                </a:solidFill>
                <a:latin typeface="Arial" pitchFamily="34" charset="0"/>
                <a:ea typeface="Arial" pitchFamily="34" charset="-122"/>
                <a:cs typeface="Arial" pitchFamily="34" charset="-120"/>
              </a:rPr>
              <a:t>Residential, commercial and institutional design from concept through working drawings</a:t>
            </a:r>
            <a:endParaRPr lang="en-US" sz="1950" dirty="0"/>
          </a:p>
        </p:txBody>
      </p:sp>
      <p:sp>
        <p:nvSpPr>
          <p:cNvPr id="8" name="Shape 6"/>
          <p:cNvSpPr/>
          <p:nvPr/>
        </p:nvSpPr>
        <p:spPr>
          <a:xfrm>
            <a:off x="5105400" y="4410075"/>
            <a:ext cx="3924300" cy="2491383"/>
          </a:xfrm>
          <a:prstGeom prst="roundRect">
            <a:avLst>
              <a:gd name="adj" fmla="val 1529"/>
            </a:avLst>
          </a:prstGeom>
          <a:solidFill>
            <a:srgbClr val="F0EDE8"/>
          </a:solidFill>
          <a:ln/>
        </p:spPr>
      </p:sp>
      <p:sp>
        <p:nvSpPr>
          <p:cNvPr id="9" name="Text 7"/>
          <p:cNvSpPr/>
          <p:nvPr/>
        </p:nvSpPr>
        <p:spPr>
          <a:xfrm>
            <a:off x="5372100" y="4714875"/>
            <a:ext cx="372999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181412"/>
                </a:solidFill>
                <a:latin typeface="Georgia" pitchFamily="34" charset="0"/>
                <a:ea typeface="Georgia" pitchFamily="34" charset="-122"/>
                <a:cs typeface="Georgia" pitchFamily="34" charset="-120"/>
              </a:rPr>
              <a:t>Interior</a:t>
            </a:r>
            <a:endParaRPr lang="en-US" sz="2250" dirty="0"/>
          </a:p>
        </p:txBody>
      </p:sp>
      <p:sp>
        <p:nvSpPr>
          <p:cNvPr id="10" name="Text 8"/>
          <p:cNvSpPr/>
          <p:nvPr/>
        </p:nvSpPr>
        <p:spPr>
          <a:xfrm>
            <a:off x="5372100" y="5210175"/>
            <a:ext cx="3492627" cy="1077962"/>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5D5650"/>
                </a:solidFill>
                <a:latin typeface="Arial" pitchFamily="34" charset="0"/>
                <a:ea typeface="Arial" pitchFamily="34" charset="-122"/>
                <a:cs typeface="Arial" pitchFamily="34" charset="-120"/>
              </a:rPr>
              <a:t>Interior design, material and furniture specification, and turnkey fit-out</a:t>
            </a:r>
            <a:endParaRPr lang="en-US" sz="1950" dirty="0"/>
          </a:p>
        </p:txBody>
      </p:sp>
      <p:sp>
        <p:nvSpPr>
          <p:cNvPr id="11" name="Shape 9"/>
          <p:cNvSpPr/>
          <p:nvPr/>
        </p:nvSpPr>
        <p:spPr>
          <a:xfrm>
            <a:off x="9258300" y="4410075"/>
            <a:ext cx="3924300" cy="2491383"/>
          </a:xfrm>
          <a:prstGeom prst="roundRect">
            <a:avLst>
              <a:gd name="adj" fmla="val 1529"/>
            </a:avLst>
          </a:prstGeom>
          <a:solidFill>
            <a:srgbClr val="F0EDE8"/>
          </a:solidFill>
          <a:ln/>
        </p:spPr>
      </p:sp>
      <p:sp>
        <p:nvSpPr>
          <p:cNvPr id="12" name="Text 10"/>
          <p:cNvSpPr/>
          <p:nvPr/>
        </p:nvSpPr>
        <p:spPr>
          <a:xfrm>
            <a:off x="9525000" y="4714875"/>
            <a:ext cx="372999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181412"/>
                </a:solidFill>
                <a:latin typeface="Georgia" pitchFamily="34" charset="0"/>
                <a:ea typeface="Georgia" pitchFamily="34" charset="-122"/>
                <a:cs typeface="Georgia" pitchFamily="34" charset="-120"/>
              </a:rPr>
              <a:t>Map Approval</a:t>
            </a:r>
            <a:endParaRPr lang="en-US" sz="2250" dirty="0"/>
          </a:p>
        </p:txBody>
      </p:sp>
      <p:sp>
        <p:nvSpPr>
          <p:cNvPr id="13" name="Text 11"/>
          <p:cNvSpPr/>
          <p:nvPr/>
        </p:nvSpPr>
        <p:spPr>
          <a:xfrm>
            <a:off x="9525000" y="5210175"/>
            <a:ext cx="3492627" cy="1424583"/>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5D5650"/>
                </a:solidFill>
                <a:latin typeface="Arial" pitchFamily="34" charset="0"/>
                <a:ea typeface="Arial" pitchFamily="34" charset="-122"/>
                <a:cs typeface="Arial" pitchFamily="34" charset="-120"/>
              </a:rPr>
              <a:t>Preparation and submission of building plans for sanction by the local authority</a:t>
            </a:r>
            <a:endParaRPr lang="en-US" sz="1950" dirty="0"/>
          </a:p>
        </p:txBody>
      </p:sp>
      <p:sp>
        <p:nvSpPr>
          <p:cNvPr id="14" name="Shape 12"/>
          <p:cNvSpPr/>
          <p:nvPr/>
        </p:nvSpPr>
        <p:spPr>
          <a:xfrm>
            <a:off x="13411200" y="4410075"/>
            <a:ext cx="3924300" cy="2491383"/>
          </a:xfrm>
          <a:prstGeom prst="roundRect">
            <a:avLst>
              <a:gd name="adj" fmla="val 1529"/>
            </a:avLst>
          </a:prstGeom>
          <a:solidFill>
            <a:srgbClr val="F0EDE8"/>
          </a:solidFill>
          <a:ln/>
        </p:spPr>
      </p:sp>
      <p:sp>
        <p:nvSpPr>
          <p:cNvPr id="15" name="Text 13"/>
          <p:cNvSpPr/>
          <p:nvPr/>
        </p:nvSpPr>
        <p:spPr>
          <a:xfrm>
            <a:off x="13677900" y="4714875"/>
            <a:ext cx="372999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181412"/>
                </a:solidFill>
                <a:latin typeface="Georgia" pitchFamily="34" charset="0"/>
                <a:ea typeface="Georgia" pitchFamily="34" charset="-122"/>
                <a:cs typeface="Georgia" pitchFamily="34" charset="-120"/>
              </a:rPr>
              <a:t>Construction</a:t>
            </a:r>
            <a:endParaRPr lang="en-US" sz="2250" dirty="0"/>
          </a:p>
        </p:txBody>
      </p:sp>
      <p:sp>
        <p:nvSpPr>
          <p:cNvPr id="16" name="Text 14"/>
          <p:cNvSpPr/>
          <p:nvPr/>
        </p:nvSpPr>
        <p:spPr>
          <a:xfrm>
            <a:off x="13677900" y="5210175"/>
            <a:ext cx="3492627" cy="1077962"/>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5D5650"/>
                </a:solidFill>
                <a:latin typeface="Arial" pitchFamily="34" charset="0"/>
                <a:ea typeface="Arial" pitchFamily="34" charset="-122"/>
                <a:cs typeface="Arial" pitchFamily="34" charset="-120"/>
              </a:rPr>
              <a:t>Execution and site supervision through to handover</a:t>
            </a:r>
            <a:endParaRPr lang="en-US" sz="1950" dirty="0"/>
          </a:p>
        </p:txBody>
      </p:sp>
      <p:sp>
        <p:nvSpPr>
          <p:cNvPr id="17" name="Text 15"/>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18" name="Text 16"/>
          <p:cNvSpPr/>
          <p:nvPr/>
        </p:nvSpPr>
        <p:spPr>
          <a:xfrm>
            <a:off x="13776424" y="9677400"/>
            <a:ext cx="391498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The Problem</a:t>
            </a:r>
            <a:endParaRPr lang="en-US" sz="3750" dirty="0"/>
          </a:p>
        </p:txBody>
      </p:sp>
      <p:sp>
        <p:nvSpPr>
          <p:cNvPr id="4" name="Text 2"/>
          <p:cNvSpPr/>
          <p:nvPr/>
        </p:nvSpPr>
        <p:spPr>
          <a:xfrm>
            <a:off x="952500" y="2181225"/>
            <a:ext cx="14716125"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5D5650"/>
                </a:solidFill>
                <a:latin typeface="Arial" pitchFamily="34" charset="0"/>
                <a:ea typeface="Arial" pitchFamily="34" charset="-122"/>
                <a:cs typeface="Arial" pitchFamily="34" charset="-120"/>
              </a:rPr>
              <a:t>A design practice that cannot show its work convincingly, cannot be found by the clients searching for it, and cannot update its own website, loses enquiries it has already earned.</a:t>
            </a:r>
            <a:endParaRPr lang="en-US" sz="2175" dirty="0"/>
          </a:p>
        </p:txBody>
      </p:sp>
      <p:sp>
        <p:nvSpPr>
          <p:cNvPr id="5" name="Shape 3"/>
          <p:cNvSpPr/>
          <p:nvPr/>
        </p:nvSpPr>
        <p:spPr>
          <a:xfrm>
            <a:off x="952500" y="3373636"/>
            <a:ext cx="7924800" cy="19050"/>
          </a:xfrm>
          <a:prstGeom prst="rect">
            <a:avLst/>
          </a:prstGeom>
          <a:solidFill>
            <a:srgbClr val="B0592B"/>
          </a:solidFill>
          <a:ln/>
        </p:spPr>
      </p:sp>
      <p:sp>
        <p:nvSpPr>
          <p:cNvPr id="6" name="Text 4"/>
          <p:cNvSpPr/>
          <p:nvPr/>
        </p:nvSpPr>
        <p:spPr>
          <a:xfrm>
            <a:off x="952500" y="3583186"/>
            <a:ext cx="871728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181412"/>
                </a:solidFill>
                <a:latin typeface="Georgia" pitchFamily="34" charset="0"/>
                <a:ea typeface="Georgia" pitchFamily="34" charset="-122"/>
                <a:cs typeface="Georgia" pitchFamily="34" charset="-120"/>
              </a:rPr>
              <a:t>Presentation</a:t>
            </a:r>
            <a:endParaRPr lang="en-US" sz="2250" dirty="0"/>
          </a:p>
        </p:txBody>
      </p:sp>
      <p:sp>
        <p:nvSpPr>
          <p:cNvPr id="7" name="Text 5"/>
          <p:cNvSpPr/>
          <p:nvPr/>
        </p:nvSpPr>
        <p:spPr>
          <a:xfrm>
            <a:off x="952500" y="4059436"/>
            <a:ext cx="8162544"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5D5650"/>
                </a:solidFill>
                <a:latin typeface="Arial" pitchFamily="34" charset="0"/>
                <a:ea typeface="Arial" pitchFamily="34" charset="-122"/>
                <a:cs typeface="Arial" pitchFamily="34" charset="-120"/>
              </a:rPr>
              <a:t>Photographic work presented as small images inside blocks of text — the site described the firm, it did not demonstrate it</a:t>
            </a:r>
            <a:endParaRPr lang="en-US" sz="1950" dirty="0"/>
          </a:p>
        </p:txBody>
      </p:sp>
      <p:sp>
        <p:nvSpPr>
          <p:cNvPr id="8" name="Shape 6"/>
          <p:cNvSpPr/>
          <p:nvPr/>
        </p:nvSpPr>
        <p:spPr>
          <a:xfrm>
            <a:off x="9410700" y="3373636"/>
            <a:ext cx="7924800" cy="19050"/>
          </a:xfrm>
          <a:prstGeom prst="rect">
            <a:avLst/>
          </a:prstGeom>
          <a:solidFill>
            <a:srgbClr val="B0592B"/>
          </a:solidFill>
          <a:ln/>
        </p:spPr>
      </p:sp>
      <p:sp>
        <p:nvSpPr>
          <p:cNvPr id="9" name="Text 7"/>
          <p:cNvSpPr/>
          <p:nvPr/>
        </p:nvSpPr>
        <p:spPr>
          <a:xfrm>
            <a:off x="9410700" y="3583186"/>
            <a:ext cx="871728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181412"/>
                </a:solidFill>
                <a:latin typeface="Georgia" pitchFamily="34" charset="0"/>
                <a:ea typeface="Georgia" pitchFamily="34" charset="-122"/>
                <a:cs typeface="Georgia" pitchFamily="34" charset="-120"/>
              </a:rPr>
              <a:t>Enquiry Capture</a:t>
            </a:r>
            <a:endParaRPr lang="en-US" sz="2250" dirty="0"/>
          </a:p>
        </p:txBody>
      </p:sp>
      <p:sp>
        <p:nvSpPr>
          <p:cNvPr id="10" name="Text 8"/>
          <p:cNvSpPr/>
          <p:nvPr/>
        </p:nvSpPr>
        <p:spPr>
          <a:xfrm>
            <a:off x="9410700" y="4059436"/>
            <a:ext cx="8162544" cy="1077962"/>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5D5650"/>
                </a:solidFill>
                <a:latin typeface="Arial" pitchFamily="34" charset="0"/>
                <a:ea typeface="Arial" pitchFamily="34" charset="-122"/>
                <a:cs typeface="Arial" pitchFamily="34" charset="-120"/>
              </a:rPr>
              <a:t>Enquiries arrived by DM and phone call, with nothing recorded — a lead that is forgotten is indistinguishable from one that never arrived</a:t>
            </a:r>
            <a:endParaRPr lang="en-US" sz="1950" dirty="0"/>
          </a:p>
        </p:txBody>
      </p:sp>
      <p:sp>
        <p:nvSpPr>
          <p:cNvPr id="11" name="Shape 9"/>
          <p:cNvSpPr/>
          <p:nvPr/>
        </p:nvSpPr>
        <p:spPr>
          <a:xfrm>
            <a:off x="952500" y="5365998"/>
            <a:ext cx="7924800" cy="19050"/>
          </a:xfrm>
          <a:prstGeom prst="rect">
            <a:avLst/>
          </a:prstGeom>
          <a:solidFill>
            <a:srgbClr val="B0592B"/>
          </a:solidFill>
          <a:ln/>
        </p:spPr>
      </p:sp>
      <p:sp>
        <p:nvSpPr>
          <p:cNvPr id="12" name="Text 10"/>
          <p:cNvSpPr/>
          <p:nvPr/>
        </p:nvSpPr>
        <p:spPr>
          <a:xfrm>
            <a:off x="952500" y="5575548"/>
            <a:ext cx="871728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181412"/>
                </a:solidFill>
                <a:latin typeface="Georgia" pitchFamily="34" charset="0"/>
                <a:ea typeface="Georgia" pitchFamily="34" charset="-122"/>
                <a:cs typeface="Georgia" pitchFamily="34" charset="-120"/>
              </a:rPr>
              <a:t>Maintainability</a:t>
            </a:r>
            <a:endParaRPr lang="en-US" sz="2250" dirty="0"/>
          </a:p>
        </p:txBody>
      </p:sp>
      <p:sp>
        <p:nvSpPr>
          <p:cNvPr id="13" name="Text 11"/>
          <p:cNvSpPr/>
          <p:nvPr/>
        </p:nvSpPr>
        <p:spPr>
          <a:xfrm>
            <a:off x="952500" y="6051798"/>
            <a:ext cx="8162544"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5D5650"/>
                </a:solidFill>
                <a:latin typeface="Arial" pitchFamily="34" charset="0"/>
                <a:ea typeface="Arial" pitchFamily="34" charset="-122"/>
                <a:cs typeface="Arial" pitchFamily="34" charset="-120"/>
              </a:rPr>
              <a:t>Every content change required editing markup, so completed projects accumulated on a phone and never reached the site</a:t>
            </a:r>
            <a:endParaRPr lang="en-US" sz="1950" dirty="0"/>
          </a:p>
        </p:txBody>
      </p:sp>
      <p:sp>
        <p:nvSpPr>
          <p:cNvPr id="14" name="Shape 12"/>
          <p:cNvSpPr/>
          <p:nvPr/>
        </p:nvSpPr>
        <p:spPr>
          <a:xfrm>
            <a:off x="9410700" y="5365998"/>
            <a:ext cx="7924800" cy="19050"/>
          </a:xfrm>
          <a:prstGeom prst="rect">
            <a:avLst/>
          </a:prstGeom>
          <a:solidFill>
            <a:srgbClr val="B0592B"/>
          </a:solidFill>
          <a:ln/>
        </p:spPr>
      </p:sp>
      <p:sp>
        <p:nvSpPr>
          <p:cNvPr id="15" name="Text 13"/>
          <p:cNvSpPr/>
          <p:nvPr/>
        </p:nvSpPr>
        <p:spPr>
          <a:xfrm>
            <a:off x="9410700" y="5575548"/>
            <a:ext cx="871728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181412"/>
                </a:solidFill>
                <a:latin typeface="Georgia" pitchFamily="34" charset="0"/>
                <a:ea typeface="Georgia" pitchFamily="34" charset="-122"/>
                <a:cs typeface="Georgia" pitchFamily="34" charset="-120"/>
              </a:rPr>
              <a:t>Discoverability &amp; Performance</a:t>
            </a:r>
            <a:endParaRPr lang="en-US" sz="2250" dirty="0"/>
          </a:p>
        </p:txBody>
      </p:sp>
      <p:sp>
        <p:nvSpPr>
          <p:cNvPr id="16" name="Text 14"/>
          <p:cNvSpPr/>
          <p:nvPr/>
        </p:nvSpPr>
        <p:spPr>
          <a:xfrm>
            <a:off x="9410700" y="6051798"/>
            <a:ext cx="8162544"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5D5650"/>
                </a:solidFill>
                <a:latin typeface="Arial" pitchFamily="34" charset="0"/>
                <a:ea typeface="Arial" pitchFamily="34" charset="-122"/>
                <a:cs typeface="Arial" pitchFamily="34" charset="-120"/>
              </a:rPr>
              <a:t>Large unoptimised images and minimal metadata made the practice hard to find and slow to load on mobile</a:t>
            </a:r>
            <a:endParaRPr lang="en-US" sz="1950" dirty="0"/>
          </a:p>
        </p:txBody>
      </p:sp>
      <p:sp>
        <p:nvSpPr>
          <p:cNvPr id="17" name="Text 15"/>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18" name="Text 16"/>
          <p:cNvSpPr/>
          <p:nvPr/>
        </p:nvSpPr>
        <p:spPr>
          <a:xfrm>
            <a:off x="13765411" y="9677400"/>
            <a:ext cx="392709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Project Objectives</a:t>
            </a:r>
            <a:endParaRPr lang="en-US" sz="3750" dirty="0"/>
          </a:p>
        </p:txBody>
      </p:sp>
      <p:sp>
        <p:nvSpPr>
          <p:cNvPr id="4" name="Text 2"/>
          <p:cNvSpPr/>
          <p:nvPr/>
        </p:nvSpPr>
        <p:spPr>
          <a:xfrm>
            <a:off x="952500" y="2333625"/>
            <a:ext cx="407640"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B0592B"/>
                </a:solidFill>
                <a:latin typeface="Georgia" pitchFamily="34" charset="0"/>
                <a:ea typeface="Georgia" pitchFamily="34" charset="-122"/>
                <a:cs typeface="Georgia" pitchFamily="34" charset="-120"/>
              </a:rPr>
              <a:t>01</a:t>
            </a:r>
            <a:endParaRPr lang="en-US" sz="2550" dirty="0"/>
          </a:p>
        </p:txBody>
      </p:sp>
      <p:sp>
        <p:nvSpPr>
          <p:cNvPr id="5" name="Text 3"/>
          <p:cNvSpPr/>
          <p:nvPr/>
        </p:nvSpPr>
        <p:spPr>
          <a:xfrm>
            <a:off x="1474440" y="2371725"/>
            <a:ext cx="7624946"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181412"/>
                </a:solidFill>
                <a:latin typeface="Arial" pitchFamily="34" charset="0"/>
                <a:ea typeface="Arial" pitchFamily="34" charset="-122"/>
                <a:cs typeface="Arial" pitchFamily="34" charset="-120"/>
              </a:rPr>
              <a:t>Map the four service verticals into an information architecture a first-time visitor can navigate unaided</a:t>
            </a:r>
            <a:endParaRPr lang="en-US" sz="1950" dirty="0"/>
          </a:p>
        </p:txBody>
      </p:sp>
      <p:sp>
        <p:nvSpPr>
          <p:cNvPr id="6" name="Text 4"/>
          <p:cNvSpPr/>
          <p:nvPr/>
        </p:nvSpPr>
        <p:spPr>
          <a:xfrm>
            <a:off x="9410700" y="2333625"/>
            <a:ext cx="452735"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B0592B"/>
                </a:solidFill>
                <a:latin typeface="Georgia" pitchFamily="34" charset="0"/>
                <a:ea typeface="Georgia" pitchFamily="34" charset="-122"/>
                <a:cs typeface="Georgia" pitchFamily="34" charset="-120"/>
              </a:rPr>
              <a:t>02</a:t>
            </a:r>
            <a:endParaRPr lang="en-US" sz="2550" dirty="0"/>
          </a:p>
        </p:txBody>
      </p:sp>
      <p:sp>
        <p:nvSpPr>
          <p:cNvPr id="7" name="Text 5"/>
          <p:cNvSpPr/>
          <p:nvPr/>
        </p:nvSpPr>
        <p:spPr>
          <a:xfrm>
            <a:off x="9977735" y="2371725"/>
            <a:ext cx="7578498"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181412"/>
                </a:solidFill>
                <a:latin typeface="Arial" pitchFamily="34" charset="0"/>
                <a:ea typeface="Arial" pitchFamily="34" charset="-122"/>
                <a:cs typeface="Arial" pitchFamily="34" charset="-120"/>
              </a:rPr>
              <a:t>Design a quiet, photography-led visual system in Figma, documented as reusable tokens and components</a:t>
            </a:r>
            <a:endParaRPr lang="en-US" sz="1950" dirty="0"/>
          </a:p>
        </p:txBody>
      </p:sp>
      <p:sp>
        <p:nvSpPr>
          <p:cNvPr id="8" name="Text 6"/>
          <p:cNvSpPr/>
          <p:nvPr/>
        </p:nvSpPr>
        <p:spPr>
          <a:xfrm>
            <a:off x="952500" y="3274516"/>
            <a:ext cx="461665"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B0592B"/>
                </a:solidFill>
                <a:latin typeface="Georgia" pitchFamily="34" charset="0"/>
                <a:ea typeface="Georgia" pitchFamily="34" charset="-122"/>
                <a:cs typeface="Georgia" pitchFamily="34" charset="-120"/>
              </a:rPr>
              <a:t>03</a:t>
            </a:r>
            <a:endParaRPr lang="en-US" sz="2550" dirty="0"/>
          </a:p>
        </p:txBody>
      </p:sp>
      <p:sp>
        <p:nvSpPr>
          <p:cNvPr id="9" name="Text 7"/>
          <p:cNvSpPr/>
          <p:nvPr/>
        </p:nvSpPr>
        <p:spPr>
          <a:xfrm>
            <a:off x="1528465" y="3312616"/>
            <a:ext cx="7569300"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181412"/>
                </a:solidFill>
                <a:latin typeface="Arial" pitchFamily="34" charset="0"/>
                <a:ea typeface="Arial" pitchFamily="34" charset="-122"/>
                <a:cs typeface="Arial" pitchFamily="34" charset="-120"/>
              </a:rPr>
              <a:t>Implement a responsive front end in HTML5, CSS3 and Tailwind, functional from a 360px viewport upward</a:t>
            </a:r>
            <a:endParaRPr lang="en-US" sz="1950" dirty="0"/>
          </a:p>
        </p:txBody>
      </p:sp>
      <p:sp>
        <p:nvSpPr>
          <p:cNvPr id="10" name="Text 8"/>
          <p:cNvSpPr/>
          <p:nvPr/>
        </p:nvSpPr>
        <p:spPr>
          <a:xfrm>
            <a:off x="9410700" y="3274516"/>
            <a:ext cx="457051"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B0592B"/>
                </a:solidFill>
                <a:latin typeface="Georgia" pitchFamily="34" charset="0"/>
                <a:ea typeface="Georgia" pitchFamily="34" charset="-122"/>
                <a:cs typeface="Georgia" pitchFamily="34" charset="-120"/>
              </a:rPr>
              <a:t>04</a:t>
            </a:r>
            <a:endParaRPr lang="en-US" sz="2550" dirty="0"/>
          </a:p>
        </p:txBody>
      </p:sp>
      <p:sp>
        <p:nvSpPr>
          <p:cNvPr id="11" name="Text 9"/>
          <p:cNvSpPr/>
          <p:nvPr/>
        </p:nvSpPr>
        <p:spPr>
          <a:xfrm>
            <a:off x="9982051" y="3312616"/>
            <a:ext cx="7574052"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181412"/>
                </a:solidFill>
                <a:latin typeface="Arial" pitchFamily="34" charset="0"/>
                <a:ea typeface="Arial" pitchFamily="34" charset="-122"/>
                <a:cs typeface="Arial" pitchFamily="34" charset="-120"/>
              </a:rPr>
              <a:t>Model services, projects and images in a normalised MySQL schema behind a Node.js and Express application</a:t>
            </a:r>
            <a:endParaRPr lang="en-US" sz="1950" dirty="0"/>
          </a:p>
        </p:txBody>
      </p:sp>
      <p:sp>
        <p:nvSpPr>
          <p:cNvPr id="12" name="Text 10"/>
          <p:cNvSpPr/>
          <p:nvPr/>
        </p:nvSpPr>
        <p:spPr>
          <a:xfrm>
            <a:off x="952500" y="4215408"/>
            <a:ext cx="456158"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B0592B"/>
                </a:solidFill>
                <a:latin typeface="Georgia" pitchFamily="34" charset="0"/>
                <a:ea typeface="Georgia" pitchFamily="34" charset="-122"/>
                <a:cs typeface="Georgia" pitchFamily="34" charset="-120"/>
              </a:rPr>
              <a:t>05</a:t>
            </a:r>
            <a:endParaRPr lang="en-US" sz="2550" dirty="0"/>
          </a:p>
        </p:txBody>
      </p:sp>
      <p:sp>
        <p:nvSpPr>
          <p:cNvPr id="13" name="Text 11"/>
          <p:cNvSpPr/>
          <p:nvPr/>
        </p:nvSpPr>
        <p:spPr>
          <a:xfrm>
            <a:off x="1522958" y="4253508"/>
            <a:ext cx="7574972"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181412"/>
                </a:solidFill>
                <a:latin typeface="Arial" pitchFamily="34" charset="0"/>
                <a:ea typeface="Arial" pitchFamily="34" charset="-122"/>
                <a:cs typeface="Arial" pitchFamily="34" charset="-120"/>
              </a:rPr>
              <a:t>Build a validated enquiry pipeline that persists every submission and notifies the firm by email</a:t>
            </a:r>
            <a:endParaRPr lang="en-US" sz="1950" dirty="0"/>
          </a:p>
        </p:txBody>
      </p:sp>
      <p:sp>
        <p:nvSpPr>
          <p:cNvPr id="14" name="Text 12"/>
          <p:cNvSpPr/>
          <p:nvPr/>
        </p:nvSpPr>
        <p:spPr>
          <a:xfrm>
            <a:off x="9410700" y="4215408"/>
            <a:ext cx="467171"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B0592B"/>
                </a:solidFill>
                <a:latin typeface="Georgia" pitchFamily="34" charset="0"/>
                <a:ea typeface="Georgia" pitchFamily="34" charset="-122"/>
                <a:cs typeface="Georgia" pitchFamily="34" charset="-120"/>
              </a:rPr>
              <a:t>06</a:t>
            </a:r>
            <a:endParaRPr lang="en-US" sz="2550" dirty="0"/>
          </a:p>
        </p:txBody>
      </p:sp>
      <p:sp>
        <p:nvSpPr>
          <p:cNvPr id="15" name="Text 13"/>
          <p:cNvSpPr/>
          <p:nvPr/>
        </p:nvSpPr>
        <p:spPr>
          <a:xfrm>
            <a:off x="9992171" y="4253508"/>
            <a:ext cx="7563628"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181412"/>
                </a:solidFill>
                <a:latin typeface="Arial" pitchFamily="34" charset="0"/>
                <a:ea typeface="Arial" pitchFamily="34" charset="-122"/>
                <a:cs typeface="Arial" pitchFamily="34" charset="-120"/>
              </a:rPr>
              <a:t>Give non-technical staff an administration panel to manage projects, images and enquiries unaided</a:t>
            </a:r>
            <a:endParaRPr lang="en-US" sz="1950" dirty="0"/>
          </a:p>
        </p:txBody>
      </p:sp>
      <p:sp>
        <p:nvSpPr>
          <p:cNvPr id="16" name="Text 14"/>
          <p:cNvSpPr/>
          <p:nvPr/>
        </p:nvSpPr>
        <p:spPr>
          <a:xfrm>
            <a:off x="952500" y="5156299"/>
            <a:ext cx="429220"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B0592B"/>
                </a:solidFill>
                <a:latin typeface="Georgia" pitchFamily="34" charset="0"/>
                <a:ea typeface="Georgia" pitchFamily="34" charset="-122"/>
                <a:cs typeface="Georgia" pitchFamily="34" charset="-120"/>
              </a:rPr>
              <a:t>07</a:t>
            </a:r>
            <a:endParaRPr lang="en-US" sz="2550" dirty="0"/>
          </a:p>
        </p:txBody>
      </p:sp>
      <p:sp>
        <p:nvSpPr>
          <p:cNvPr id="17" name="Text 15"/>
          <p:cNvSpPr/>
          <p:nvPr/>
        </p:nvSpPr>
        <p:spPr>
          <a:xfrm>
            <a:off x="1496020" y="5194399"/>
            <a:ext cx="7602718"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181412"/>
                </a:solidFill>
                <a:latin typeface="Arial" pitchFamily="34" charset="0"/>
                <a:ea typeface="Arial" pitchFamily="34" charset="-122"/>
                <a:cs typeface="Arial" pitchFamily="34" charset="-120"/>
              </a:rPr>
              <a:t>Optimise image delivery and measure Core Web Vitals improvement on a throttled mobile profile</a:t>
            </a:r>
            <a:endParaRPr lang="en-US" sz="1950" dirty="0"/>
          </a:p>
        </p:txBody>
      </p:sp>
      <p:sp>
        <p:nvSpPr>
          <p:cNvPr id="18" name="Text 16"/>
          <p:cNvSpPr/>
          <p:nvPr/>
        </p:nvSpPr>
        <p:spPr>
          <a:xfrm>
            <a:off x="9410700" y="5156299"/>
            <a:ext cx="464939" cy="447675"/>
          </a:xfrm>
          <a:prstGeom prst="rect">
            <a:avLst/>
          </a:prstGeom>
          <a:noFill/>
          <a:ln/>
        </p:spPr>
        <p:txBody>
          <a:bodyPr wrap="square" lIns="25400" tIns="25400" rIns="25400" bIns="25400" rtlCol="0" anchor="t">
            <a:normAutofit/>
          </a:bodyPr>
          <a:lstStyle/>
          <a:p>
            <a:pPr algn="l" indent="0" marL="0">
              <a:buNone/>
            </a:pPr>
            <a:r>
              <a:rPr lang="en-US" sz="2550" b="1" dirty="0">
                <a:solidFill>
                  <a:srgbClr val="B0592B"/>
                </a:solidFill>
                <a:latin typeface="Georgia" pitchFamily="34" charset="0"/>
                <a:ea typeface="Georgia" pitchFamily="34" charset="-122"/>
                <a:cs typeface="Georgia" pitchFamily="34" charset="-120"/>
              </a:rPr>
              <a:t>08</a:t>
            </a:r>
            <a:endParaRPr lang="en-US" sz="2550" dirty="0"/>
          </a:p>
        </p:txBody>
      </p:sp>
      <p:sp>
        <p:nvSpPr>
          <p:cNvPr id="19" name="Text 17"/>
          <p:cNvSpPr/>
          <p:nvPr/>
        </p:nvSpPr>
        <p:spPr>
          <a:xfrm>
            <a:off x="9989939" y="5194399"/>
            <a:ext cx="7565928"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181412"/>
                </a:solidFill>
                <a:latin typeface="Arial" pitchFamily="34" charset="0"/>
                <a:ea typeface="Arial" pitchFamily="34" charset="-122"/>
                <a:cs typeface="Arial" pitchFamily="34" charset="-120"/>
              </a:rPr>
              <a:t>Implement technical SEO and WCAG 2.1 Level AA accessibility, and hand over with written documentation</a:t>
            </a:r>
            <a:endParaRPr lang="en-US" sz="1950" dirty="0"/>
          </a:p>
        </p:txBody>
      </p:sp>
      <p:sp>
        <p:nvSpPr>
          <p:cNvPr id="20" name="Text 18"/>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21" name="Text 19"/>
          <p:cNvSpPr/>
          <p:nvPr/>
        </p:nvSpPr>
        <p:spPr>
          <a:xfrm>
            <a:off x="13771959" y="9677400"/>
            <a:ext cx="391989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Scope of the Project</a:t>
            </a:r>
            <a:endParaRPr lang="en-US" sz="3750" dirty="0"/>
          </a:p>
        </p:txBody>
      </p:sp>
      <p:sp>
        <p:nvSpPr>
          <p:cNvPr id="4" name="Text 2"/>
          <p:cNvSpPr/>
          <p:nvPr/>
        </p:nvSpPr>
        <p:spPr>
          <a:xfrm>
            <a:off x="952500" y="2333625"/>
            <a:ext cx="8675370" cy="428625"/>
          </a:xfrm>
          <a:prstGeom prst="rect">
            <a:avLst/>
          </a:prstGeom>
          <a:noFill/>
          <a:ln/>
        </p:spPr>
        <p:txBody>
          <a:bodyPr wrap="square" lIns="25400" tIns="25400" rIns="25400" bIns="25400" rtlCol="0" anchor="t">
            <a:normAutofit/>
          </a:bodyPr>
          <a:lstStyle/>
          <a:p>
            <a:pPr algn="l" indent="0" marL="0">
              <a:buNone/>
            </a:pPr>
            <a:r>
              <a:rPr lang="en-US" sz="2400" b="1" dirty="0">
                <a:solidFill>
                  <a:srgbClr val="B0592B"/>
                </a:solidFill>
                <a:latin typeface="Georgia" pitchFamily="34" charset="0"/>
                <a:ea typeface="Georgia" pitchFamily="34" charset="-122"/>
                <a:cs typeface="Georgia" pitchFamily="34" charset="-120"/>
              </a:rPr>
              <a:t>Included</a:t>
            </a:r>
            <a:endParaRPr lang="en-US" sz="2400" dirty="0"/>
          </a:p>
        </p:txBody>
      </p:sp>
      <p:sp>
        <p:nvSpPr>
          <p:cNvPr id="5" name="Text 3"/>
          <p:cNvSpPr/>
          <p:nvPr/>
        </p:nvSpPr>
        <p:spPr>
          <a:xfrm>
            <a:off x="1064895" y="2914650"/>
            <a:ext cx="7850505" cy="4396085"/>
          </a:xfrm>
          <a:prstGeom prst="rect">
            <a:avLst/>
          </a:prstGeom>
          <a:noFill/>
          <a:ln/>
        </p:spPr>
        <p:txBody>
          <a:bodyPr wrap="square" lIns="25400" tIns="25400" rIns="25400" bIns="25400" rtlCol="0" anchor="t">
            <a:normAutofit/>
          </a:bodyPr>
          <a:lstStyle/>
          <a:p>
            <a:pPr algn="l" marL="173355" indent="-173355">
              <a:lnSpc>
                <a:spcPct val="134194"/>
              </a:lnSpc>
              <a:buSzPct val="100000"/>
              <a:buChar char="•"/>
              <a:tabLst>
                <a:tab pos="173355" algn="l"/>
              </a:tabLst>
            </a:pPr>
            <a:r>
              <a:rPr lang="en-US" sz="1950" dirty="0">
                <a:solidFill>
                  <a:srgbClr val="181412"/>
                </a:solidFill>
                <a:latin typeface="Arial" pitchFamily="34" charset="0"/>
                <a:ea typeface="Arial" pitchFamily="34" charset="-122"/>
                <a:cs typeface="Arial" pitchFamily="34" charset="-120"/>
              </a:rPr>
              <a:t>Complete Figma design system and page templates at three breakpoints</a:t>
            </a:r>
            <a:endParaRPr lang="en-US" sz="1950" dirty="0"/>
          </a:p>
          <a:p>
            <a:pPr algn="l" marL="173355" indent="-173355">
              <a:lnSpc>
                <a:spcPct val="134194"/>
              </a:lnSpc>
              <a:buSzPct val="100000"/>
              <a:buChar char="•"/>
              <a:tabLst>
                <a:tab pos="173355" algn="l"/>
              </a:tabLst>
            </a:pPr>
            <a:r>
              <a:rPr lang="en-US" sz="1950" dirty="0">
                <a:solidFill>
                  <a:srgbClr val="181412"/>
                </a:solidFill>
                <a:latin typeface="Arial" pitchFamily="34" charset="0"/>
                <a:ea typeface="Arial" pitchFamily="34" charset="-122"/>
                <a:cs typeface="Arial" pitchFamily="34" charset="-120"/>
              </a:rPr>
              <a:t>Public front end: home, four service pages, project archive, project detail, about, contact</a:t>
            </a:r>
            <a:endParaRPr lang="en-US" sz="1950" dirty="0"/>
          </a:p>
          <a:p>
            <a:pPr algn="l" marL="173355" indent="-173355">
              <a:lnSpc>
                <a:spcPct val="134194"/>
              </a:lnSpc>
              <a:buSzPct val="100000"/>
              <a:buChar char="•"/>
              <a:tabLst>
                <a:tab pos="173355" algn="l"/>
              </a:tabLst>
            </a:pPr>
            <a:r>
              <a:rPr lang="en-US" sz="1950" dirty="0">
                <a:solidFill>
                  <a:srgbClr val="181412"/>
                </a:solidFill>
                <a:latin typeface="Arial" pitchFamily="34" charset="0"/>
                <a:ea typeface="Arial" pitchFamily="34" charset="-122"/>
                <a:cs typeface="Arial" pitchFamily="34" charset="-120"/>
              </a:rPr>
              <a:t>Express + MySQL server and data layer with migrations and seed data</a:t>
            </a:r>
            <a:endParaRPr lang="en-US" sz="1950" dirty="0"/>
          </a:p>
          <a:p>
            <a:pPr algn="l" marL="173355" indent="-173355">
              <a:lnSpc>
                <a:spcPct val="134194"/>
              </a:lnSpc>
              <a:buSzPct val="100000"/>
              <a:buChar char="•"/>
              <a:tabLst>
                <a:tab pos="173355" algn="l"/>
              </a:tabLst>
            </a:pPr>
            <a:r>
              <a:rPr lang="en-US" sz="1950" dirty="0">
                <a:solidFill>
                  <a:srgbClr val="181412"/>
                </a:solidFill>
                <a:latin typeface="Arial" pitchFamily="34" charset="0"/>
                <a:ea typeface="Arial" pitchFamily="34" charset="-122"/>
                <a:cs typeface="Arial" pitchFamily="34" charset="-120"/>
              </a:rPr>
              <a:t>Validated enquiry pipeline with spam mitigation and email notification</a:t>
            </a:r>
            <a:endParaRPr lang="en-US" sz="1950" dirty="0"/>
          </a:p>
          <a:p>
            <a:pPr algn="l" marL="173355" indent="-173355">
              <a:lnSpc>
                <a:spcPct val="134194"/>
              </a:lnSpc>
              <a:buSzPct val="100000"/>
              <a:buChar char="•"/>
              <a:tabLst>
                <a:tab pos="173355" algn="l"/>
              </a:tabLst>
            </a:pPr>
            <a:r>
              <a:rPr lang="en-US" sz="1950" dirty="0">
                <a:solidFill>
                  <a:srgbClr val="181412"/>
                </a:solidFill>
                <a:latin typeface="Arial" pitchFamily="34" charset="0"/>
                <a:ea typeface="Arial" pitchFamily="34" charset="-122"/>
                <a:cs typeface="Arial" pitchFamily="34" charset="-120"/>
              </a:rPr>
              <a:t>Authenticated administration panel for staff</a:t>
            </a:r>
            <a:endParaRPr lang="en-US" sz="1950" dirty="0"/>
          </a:p>
          <a:p>
            <a:pPr algn="l" marL="173355" indent="-173355">
              <a:lnSpc>
                <a:spcPct val="134194"/>
              </a:lnSpc>
              <a:buSzPct val="100000"/>
              <a:buChar char="•"/>
              <a:tabLst>
                <a:tab pos="173355" algn="l"/>
              </a:tabLst>
            </a:pPr>
            <a:r>
              <a:rPr lang="en-US" sz="1950" dirty="0">
                <a:solidFill>
                  <a:srgbClr val="181412"/>
                </a:solidFill>
                <a:latin typeface="Arial" pitchFamily="34" charset="0"/>
                <a:ea typeface="Arial" pitchFamily="34" charset="-122"/>
                <a:cs typeface="Arial" pitchFamily="34" charset="-120"/>
              </a:rPr>
              <a:t>Performance, SEO and accessibility work</a:t>
            </a:r>
            <a:endParaRPr lang="en-US" sz="1950" dirty="0"/>
          </a:p>
          <a:p>
            <a:pPr algn="l" marL="173355" indent="-173355">
              <a:lnSpc>
                <a:spcPct val="134194"/>
              </a:lnSpc>
              <a:buSzPct val="100000"/>
              <a:buChar char="•"/>
              <a:tabLst>
                <a:tab pos="173355" algn="l"/>
              </a:tabLst>
            </a:pPr>
            <a:r>
              <a:rPr lang="en-US" sz="1950" dirty="0">
                <a:solidFill>
                  <a:srgbClr val="181412"/>
                </a:solidFill>
                <a:latin typeface="Arial" pitchFamily="34" charset="0"/>
                <a:ea typeface="Arial" pitchFamily="34" charset="-122"/>
                <a:cs typeface="Arial" pitchFamily="34" charset="-120"/>
              </a:rPr>
              <a:t>Production deployment and written handover documentation</a:t>
            </a:r>
            <a:endParaRPr lang="en-US" sz="1950" dirty="0"/>
          </a:p>
        </p:txBody>
      </p:sp>
      <p:sp>
        <p:nvSpPr>
          <p:cNvPr id="6" name="Text 4"/>
          <p:cNvSpPr/>
          <p:nvPr/>
        </p:nvSpPr>
        <p:spPr>
          <a:xfrm>
            <a:off x="9448800" y="2333625"/>
            <a:ext cx="8675370" cy="428625"/>
          </a:xfrm>
          <a:prstGeom prst="rect">
            <a:avLst/>
          </a:prstGeom>
          <a:noFill/>
          <a:ln/>
        </p:spPr>
        <p:txBody>
          <a:bodyPr wrap="square" lIns="25400" tIns="25400" rIns="25400" bIns="25400" rtlCol="0" anchor="t">
            <a:normAutofit/>
          </a:bodyPr>
          <a:lstStyle/>
          <a:p>
            <a:pPr algn="l" indent="0" marL="0">
              <a:buNone/>
            </a:pPr>
            <a:r>
              <a:rPr lang="en-US" sz="2400" b="1" dirty="0">
                <a:solidFill>
                  <a:srgbClr val="5D5650"/>
                </a:solidFill>
                <a:latin typeface="Georgia" pitchFamily="34" charset="0"/>
                <a:ea typeface="Georgia" pitchFamily="34" charset="-122"/>
                <a:cs typeface="Georgia" pitchFamily="34" charset="-120"/>
              </a:rPr>
              <a:t>Excluded</a:t>
            </a:r>
            <a:endParaRPr lang="en-US" sz="2400" dirty="0"/>
          </a:p>
        </p:txBody>
      </p:sp>
      <p:sp>
        <p:nvSpPr>
          <p:cNvPr id="7" name="Text 5"/>
          <p:cNvSpPr/>
          <p:nvPr/>
        </p:nvSpPr>
        <p:spPr>
          <a:xfrm>
            <a:off x="9561195" y="2914650"/>
            <a:ext cx="7850505" cy="3207544"/>
          </a:xfrm>
          <a:prstGeom prst="rect">
            <a:avLst/>
          </a:prstGeom>
          <a:noFill/>
          <a:ln/>
        </p:spPr>
        <p:txBody>
          <a:bodyPr wrap="square" lIns="25400" tIns="25400" rIns="25400" bIns="25400" rtlCol="0" anchor="t">
            <a:normAutofit/>
          </a:bodyPr>
          <a:lstStyle/>
          <a:p>
            <a:pPr algn="l" marL="173355" indent="-173355">
              <a:lnSpc>
                <a:spcPct val="134194"/>
              </a:lnSpc>
              <a:buSzPct val="100000"/>
              <a:buChar char="•"/>
              <a:tabLst>
                <a:tab pos="173355" algn="l"/>
              </a:tabLst>
            </a:pPr>
            <a:r>
              <a:rPr lang="en-US" sz="1950" dirty="0">
                <a:solidFill>
                  <a:srgbClr val="5D5650"/>
                </a:solidFill>
                <a:latin typeface="Arial" pitchFamily="34" charset="0"/>
                <a:ea typeface="Arial" pitchFamily="34" charset="-122"/>
                <a:cs typeface="Arial" pitchFamily="34" charset="-120"/>
              </a:rPr>
              <a:t>Online payments and any financial transaction handling</a:t>
            </a:r>
            <a:endParaRPr lang="en-US" sz="1950" dirty="0"/>
          </a:p>
          <a:p>
            <a:pPr algn="l" marL="173355" indent="-173355">
              <a:lnSpc>
                <a:spcPct val="134194"/>
              </a:lnSpc>
              <a:buSzPct val="100000"/>
              <a:buChar char="•"/>
              <a:tabLst>
                <a:tab pos="173355" algn="l"/>
              </a:tabLst>
            </a:pPr>
            <a:r>
              <a:rPr lang="en-US" sz="1950" dirty="0">
                <a:solidFill>
                  <a:srgbClr val="5D5650"/>
                </a:solidFill>
                <a:latin typeface="Arial" pitchFamily="34" charset="0"/>
                <a:ea typeface="Arial" pitchFamily="34" charset="-122"/>
                <a:cs typeface="Arial" pitchFamily="34" charset="-120"/>
              </a:rPr>
              <a:t>A client-facing project tracking portal (deferred to future scope)</a:t>
            </a:r>
            <a:endParaRPr lang="en-US" sz="1950" dirty="0"/>
          </a:p>
          <a:p>
            <a:pPr algn="l" marL="173355" indent="-173355">
              <a:lnSpc>
                <a:spcPct val="134194"/>
              </a:lnSpc>
              <a:buSzPct val="100000"/>
              <a:buChar char="•"/>
              <a:tabLst>
                <a:tab pos="173355" algn="l"/>
              </a:tabLst>
            </a:pPr>
            <a:r>
              <a:rPr lang="en-US" sz="1950" dirty="0">
                <a:solidFill>
                  <a:srgbClr val="5D5650"/>
                </a:solidFill>
                <a:latin typeface="Arial" pitchFamily="34" charset="0"/>
                <a:ea typeface="Arial" pitchFamily="34" charset="-122"/>
                <a:cs typeface="Arial" pitchFamily="34" charset="-120"/>
              </a:rPr>
              <a:t>Native mobile applications</a:t>
            </a:r>
            <a:endParaRPr lang="en-US" sz="1950" dirty="0"/>
          </a:p>
          <a:p>
            <a:pPr algn="l" marL="173355" indent="-173355">
              <a:lnSpc>
                <a:spcPct val="134194"/>
              </a:lnSpc>
              <a:buSzPct val="100000"/>
              <a:buChar char="•"/>
              <a:tabLst>
                <a:tab pos="173355" algn="l"/>
              </a:tabLst>
            </a:pPr>
            <a:r>
              <a:rPr lang="en-US" sz="1950" dirty="0">
                <a:solidFill>
                  <a:srgbClr val="5D5650"/>
                </a:solidFill>
                <a:latin typeface="Arial" pitchFamily="34" charset="0"/>
                <a:ea typeface="Arial" pitchFamily="34" charset="-122"/>
                <a:cs typeface="Arial" pitchFamily="34" charset="-120"/>
              </a:rPr>
              <a:t>Architectural drawing, BIM/CAD, or professional design services</a:t>
            </a:r>
            <a:endParaRPr lang="en-US" sz="1950" dirty="0"/>
          </a:p>
          <a:p>
            <a:pPr algn="l" marL="173355" indent="-173355">
              <a:lnSpc>
                <a:spcPct val="134194"/>
              </a:lnSpc>
              <a:buSzPct val="100000"/>
              <a:buChar char="•"/>
              <a:tabLst>
                <a:tab pos="173355" algn="l"/>
              </a:tabLst>
            </a:pPr>
            <a:r>
              <a:rPr lang="en-US" sz="1950" dirty="0">
                <a:solidFill>
                  <a:srgbClr val="5D5650"/>
                </a:solidFill>
                <a:latin typeface="Arial" pitchFamily="34" charset="0"/>
                <a:ea typeface="Arial" pitchFamily="34" charset="-122"/>
                <a:cs typeface="Arial" pitchFamily="34" charset="-120"/>
              </a:rPr>
              <a:t>Migration of internal accounting or project management records</a:t>
            </a:r>
            <a:endParaRPr lang="en-US" sz="1950" dirty="0"/>
          </a:p>
        </p:txBody>
      </p:sp>
      <p:sp>
        <p:nvSpPr>
          <p:cNvPr id="8" name="Text 6"/>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9" name="Text 7"/>
          <p:cNvSpPr/>
          <p:nvPr/>
        </p:nvSpPr>
        <p:spPr>
          <a:xfrm>
            <a:off x="13766006" y="9677400"/>
            <a:ext cx="392644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Technology Stack</a:t>
            </a:r>
            <a:endParaRPr lang="en-US" sz="3750" dirty="0"/>
          </a:p>
        </p:txBody>
      </p:sp>
      <p:sp>
        <p:nvSpPr>
          <p:cNvPr id="4" name="Shape 2"/>
          <p:cNvSpPr/>
          <p:nvPr/>
        </p:nvSpPr>
        <p:spPr>
          <a:xfrm>
            <a:off x="952500" y="2781300"/>
            <a:ext cx="16383000" cy="19050"/>
          </a:xfrm>
          <a:prstGeom prst="rect">
            <a:avLst/>
          </a:prstGeom>
          <a:solidFill>
            <a:srgbClr val="181412"/>
          </a:solidFill>
          <a:ln/>
        </p:spPr>
      </p:sp>
      <p:sp>
        <p:nvSpPr>
          <p:cNvPr id="5" name="Text 3"/>
          <p:cNvSpPr/>
          <p:nvPr/>
        </p:nvSpPr>
        <p:spPr>
          <a:xfrm>
            <a:off x="952500" y="2333625"/>
            <a:ext cx="356235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5D5650"/>
                </a:solidFill>
                <a:latin typeface="Arial" pitchFamily="34" charset="0"/>
                <a:ea typeface="Arial" pitchFamily="34" charset="-122"/>
                <a:cs typeface="Arial" pitchFamily="34" charset="-120"/>
              </a:rPr>
              <a:t>Layer</a:t>
            </a:r>
            <a:endParaRPr lang="en-US" sz="1950" dirty="0"/>
          </a:p>
        </p:txBody>
      </p:sp>
      <p:sp>
        <p:nvSpPr>
          <p:cNvPr id="6" name="Text 4"/>
          <p:cNvSpPr/>
          <p:nvPr/>
        </p:nvSpPr>
        <p:spPr>
          <a:xfrm>
            <a:off x="4191000" y="2333625"/>
            <a:ext cx="440055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5D5650"/>
                </a:solidFill>
                <a:latin typeface="Arial" pitchFamily="34" charset="0"/>
                <a:ea typeface="Arial" pitchFamily="34" charset="-122"/>
                <a:cs typeface="Arial" pitchFamily="34" charset="-120"/>
              </a:rPr>
              <a:t>Technology</a:t>
            </a:r>
            <a:endParaRPr lang="en-US" sz="1950" dirty="0"/>
          </a:p>
        </p:txBody>
      </p:sp>
      <p:sp>
        <p:nvSpPr>
          <p:cNvPr id="7" name="Text 5"/>
          <p:cNvSpPr/>
          <p:nvPr/>
        </p:nvSpPr>
        <p:spPr>
          <a:xfrm>
            <a:off x="8191500" y="2333625"/>
            <a:ext cx="998637"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5D5650"/>
                </a:solidFill>
                <a:latin typeface="Arial" pitchFamily="34" charset="0"/>
                <a:ea typeface="Arial" pitchFamily="34" charset="-122"/>
                <a:cs typeface="Arial" pitchFamily="34" charset="-120"/>
              </a:rPr>
              <a:t>Purpose</a:t>
            </a:r>
            <a:endParaRPr lang="en-US" sz="1950" dirty="0"/>
          </a:p>
        </p:txBody>
      </p:sp>
      <p:sp>
        <p:nvSpPr>
          <p:cNvPr id="8" name="Shape 6"/>
          <p:cNvSpPr/>
          <p:nvPr/>
        </p:nvSpPr>
        <p:spPr>
          <a:xfrm>
            <a:off x="952500" y="3467100"/>
            <a:ext cx="16383000" cy="9525"/>
          </a:xfrm>
          <a:prstGeom prst="rect">
            <a:avLst/>
          </a:prstGeom>
          <a:solidFill>
            <a:srgbClr val="D5CCC7"/>
          </a:solidFill>
          <a:ln/>
        </p:spPr>
      </p:sp>
      <p:sp>
        <p:nvSpPr>
          <p:cNvPr id="9" name="Text 7"/>
          <p:cNvSpPr/>
          <p:nvPr/>
        </p:nvSpPr>
        <p:spPr>
          <a:xfrm>
            <a:off x="952500" y="2990850"/>
            <a:ext cx="35623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Design</a:t>
            </a:r>
            <a:endParaRPr lang="en-US" sz="1950" dirty="0"/>
          </a:p>
        </p:txBody>
      </p:sp>
      <p:sp>
        <p:nvSpPr>
          <p:cNvPr id="10" name="Text 8"/>
          <p:cNvSpPr/>
          <p:nvPr/>
        </p:nvSpPr>
        <p:spPr>
          <a:xfrm>
            <a:off x="4191000" y="2990850"/>
            <a:ext cx="44005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Figma</a:t>
            </a:r>
            <a:endParaRPr lang="en-US" sz="1950" dirty="0"/>
          </a:p>
        </p:txBody>
      </p:sp>
      <p:sp>
        <p:nvSpPr>
          <p:cNvPr id="11" name="Text 9"/>
          <p:cNvSpPr/>
          <p:nvPr/>
        </p:nvSpPr>
        <p:spPr>
          <a:xfrm>
            <a:off x="8191500" y="2990850"/>
            <a:ext cx="7160553"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Design system, component library, responsive layouts</a:t>
            </a:r>
            <a:endParaRPr lang="en-US" sz="1950" dirty="0"/>
          </a:p>
        </p:txBody>
      </p:sp>
      <p:sp>
        <p:nvSpPr>
          <p:cNvPr id="12" name="Shape 10"/>
          <p:cNvSpPr/>
          <p:nvPr/>
        </p:nvSpPr>
        <p:spPr>
          <a:xfrm>
            <a:off x="952500" y="4143375"/>
            <a:ext cx="16383000" cy="9525"/>
          </a:xfrm>
          <a:prstGeom prst="rect">
            <a:avLst/>
          </a:prstGeom>
          <a:solidFill>
            <a:srgbClr val="D5CCC7"/>
          </a:solidFill>
          <a:ln/>
        </p:spPr>
      </p:sp>
      <p:sp>
        <p:nvSpPr>
          <p:cNvPr id="13" name="Text 11"/>
          <p:cNvSpPr/>
          <p:nvPr/>
        </p:nvSpPr>
        <p:spPr>
          <a:xfrm>
            <a:off x="952500" y="3667125"/>
            <a:ext cx="35623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Markup &amp; styling</a:t>
            </a:r>
            <a:endParaRPr lang="en-US" sz="1950" dirty="0"/>
          </a:p>
        </p:txBody>
      </p:sp>
      <p:sp>
        <p:nvSpPr>
          <p:cNvPr id="14" name="Text 12"/>
          <p:cNvSpPr/>
          <p:nvPr/>
        </p:nvSpPr>
        <p:spPr>
          <a:xfrm>
            <a:off x="4191000" y="3667125"/>
            <a:ext cx="44005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HTML5, CSS3, Tailwind CSS</a:t>
            </a:r>
            <a:endParaRPr lang="en-US" sz="1950" dirty="0"/>
          </a:p>
        </p:txBody>
      </p:sp>
      <p:sp>
        <p:nvSpPr>
          <p:cNvPr id="15" name="Text 13"/>
          <p:cNvSpPr/>
          <p:nvPr/>
        </p:nvSpPr>
        <p:spPr>
          <a:xfrm>
            <a:off x="8191500" y="3667125"/>
            <a:ext cx="7734196"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Semantic structure, Grid/Flexbox, design tokens as config</a:t>
            </a:r>
            <a:endParaRPr lang="en-US" sz="1950" dirty="0"/>
          </a:p>
        </p:txBody>
      </p:sp>
      <p:sp>
        <p:nvSpPr>
          <p:cNvPr id="16" name="Shape 14"/>
          <p:cNvSpPr/>
          <p:nvPr/>
        </p:nvSpPr>
        <p:spPr>
          <a:xfrm>
            <a:off x="952500" y="4819650"/>
            <a:ext cx="16383000" cy="9525"/>
          </a:xfrm>
          <a:prstGeom prst="rect">
            <a:avLst/>
          </a:prstGeom>
          <a:solidFill>
            <a:srgbClr val="D5CCC7"/>
          </a:solidFill>
          <a:ln/>
        </p:spPr>
      </p:sp>
      <p:sp>
        <p:nvSpPr>
          <p:cNvPr id="17" name="Text 15"/>
          <p:cNvSpPr/>
          <p:nvPr/>
        </p:nvSpPr>
        <p:spPr>
          <a:xfrm>
            <a:off x="952500" y="4343400"/>
            <a:ext cx="35623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Client scripting</a:t>
            </a:r>
            <a:endParaRPr lang="en-US" sz="1950" dirty="0"/>
          </a:p>
        </p:txBody>
      </p:sp>
      <p:sp>
        <p:nvSpPr>
          <p:cNvPr id="18" name="Text 16"/>
          <p:cNvSpPr/>
          <p:nvPr/>
        </p:nvSpPr>
        <p:spPr>
          <a:xfrm>
            <a:off x="4191000" y="4343400"/>
            <a:ext cx="44005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JavaScript (ES2022)</a:t>
            </a:r>
            <a:endParaRPr lang="en-US" sz="1950" dirty="0"/>
          </a:p>
        </p:txBody>
      </p:sp>
      <p:sp>
        <p:nvSpPr>
          <p:cNvPr id="19" name="Text 17"/>
          <p:cNvSpPr/>
          <p:nvPr/>
        </p:nvSpPr>
        <p:spPr>
          <a:xfrm>
            <a:off x="8191500" y="4343400"/>
            <a:ext cx="8821728"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Filtering, lightbox, form feedback, lazy loading — as enhancement</a:t>
            </a:r>
            <a:endParaRPr lang="en-US" sz="1950" dirty="0"/>
          </a:p>
        </p:txBody>
      </p:sp>
      <p:sp>
        <p:nvSpPr>
          <p:cNvPr id="20" name="Shape 18"/>
          <p:cNvSpPr/>
          <p:nvPr/>
        </p:nvSpPr>
        <p:spPr>
          <a:xfrm>
            <a:off x="952500" y="5495925"/>
            <a:ext cx="16383000" cy="9525"/>
          </a:xfrm>
          <a:prstGeom prst="rect">
            <a:avLst/>
          </a:prstGeom>
          <a:solidFill>
            <a:srgbClr val="D5CCC7"/>
          </a:solidFill>
          <a:ln/>
        </p:spPr>
      </p:sp>
      <p:sp>
        <p:nvSpPr>
          <p:cNvPr id="21" name="Text 19"/>
          <p:cNvSpPr/>
          <p:nvPr/>
        </p:nvSpPr>
        <p:spPr>
          <a:xfrm>
            <a:off x="952500" y="5019675"/>
            <a:ext cx="35623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Server &amp; database</a:t>
            </a:r>
            <a:endParaRPr lang="en-US" sz="1950" dirty="0"/>
          </a:p>
        </p:txBody>
      </p:sp>
      <p:sp>
        <p:nvSpPr>
          <p:cNvPr id="22" name="Text 20"/>
          <p:cNvSpPr/>
          <p:nvPr/>
        </p:nvSpPr>
        <p:spPr>
          <a:xfrm>
            <a:off x="4191000" y="5019675"/>
            <a:ext cx="44005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Node.js, Express, MySQL</a:t>
            </a:r>
            <a:endParaRPr lang="en-US" sz="1950" dirty="0"/>
          </a:p>
        </p:txBody>
      </p:sp>
      <p:sp>
        <p:nvSpPr>
          <p:cNvPr id="23" name="Text 21"/>
          <p:cNvSpPr/>
          <p:nvPr/>
        </p:nvSpPr>
        <p:spPr>
          <a:xfrm>
            <a:off x="8191500" y="5019675"/>
            <a:ext cx="7966502"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Routing, templating, sessions, normalised relational storage</a:t>
            </a:r>
            <a:endParaRPr lang="en-US" sz="1950" dirty="0"/>
          </a:p>
        </p:txBody>
      </p:sp>
      <p:sp>
        <p:nvSpPr>
          <p:cNvPr id="24" name="Shape 22"/>
          <p:cNvSpPr/>
          <p:nvPr/>
        </p:nvSpPr>
        <p:spPr>
          <a:xfrm>
            <a:off x="952500" y="6172200"/>
            <a:ext cx="16383000" cy="9525"/>
          </a:xfrm>
          <a:prstGeom prst="rect">
            <a:avLst/>
          </a:prstGeom>
          <a:solidFill>
            <a:srgbClr val="D5CCC7"/>
          </a:solidFill>
          <a:ln/>
        </p:spPr>
      </p:sp>
      <p:sp>
        <p:nvSpPr>
          <p:cNvPr id="25" name="Text 23"/>
          <p:cNvSpPr/>
          <p:nvPr/>
        </p:nvSpPr>
        <p:spPr>
          <a:xfrm>
            <a:off x="952500" y="5695950"/>
            <a:ext cx="35623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Version control</a:t>
            </a:r>
            <a:endParaRPr lang="en-US" sz="1950" dirty="0"/>
          </a:p>
        </p:txBody>
      </p:sp>
      <p:sp>
        <p:nvSpPr>
          <p:cNvPr id="26" name="Text 24"/>
          <p:cNvSpPr/>
          <p:nvPr/>
        </p:nvSpPr>
        <p:spPr>
          <a:xfrm>
            <a:off x="4191000" y="5695950"/>
            <a:ext cx="44005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Git, GitHub</a:t>
            </a:r>
            <a:endParaRPr lang="en-US" sz="1950" dirty="0"/>
          </a:p>
        </p:txBody>
      </p:sp>
      <p:sp>
        <p:nvSpPr>
          <p:cNvPr id="27" name="Text 25"/>
          <p:cNvSpPr/>
          <p:nvPr/>
        </p:nvSpPr>
        <p:spPr>
          <a:xfrm>
            <a:off x="8191500" y="5695950"/>
            <a:ext cx="7877443"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Branch-per-feature workflow, review history, issue tracking</a:t>
            </a:r>
            <a:endParaRPr lang="en-US" sz="1950" dirty="0"/>
          </a:p>
        </p:txBody>
      </p:sp>
      <p:sp>
        <p:nvSpPr>
          <p:cNvPr id="28" name="Shape 26"/>
          <p:cNvSpPr/>
          <p:nvPr/>
        </p:nvSpPr>
        <p:spPr>
          <a:xfrm>
            <a:off x="952500" y="7134225"/>
            <a:ext cx="16383000" cy="9525"/>
          </a:xfrm>
          <a:prstGeom prst="rect">
            <a:avLst/>
          </a:prstGeom>
          <a:solidFill>
            <a:srgbClr val="D5CCC7"/>
          </a:solidFill>
          <a:ln/>
        </p:spPr>
      </p:sp>
      <p:sp>
        <p:nvSpPr>
          <p:cNvPr id="29" name="Text 27"/>
          <p:cNvSpPr/>
          <p:nvPr/>
        </p:nvSpPr>
        <p:spPr>
          <a:xfrm>
            <a:off x="952500" y="6372225"/>
            <a:ext cx="3335655"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Hosting &amp; analytics</a:t>
            </a:r>
            <a:endParaRPr lang="en-US" sz="1950" dirty="0"/>
          </a:p>
        </p:txBody>
      </p:sp>
      <p:sp>
        <p:nvSpPr>
          <p:cNvPr id="30" name="Text 28"/>
          <p:cNvSpPr/>
          <p:nvPr/>
        </p:nvSpPr>
        <p:spPr>
          <a:xfrm>
            <a:off x="4191000" y="6372225"/>
            <a:ext cx="4120515"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Managed Node hosting, TLS, GA4, Search Console</a:t>
            </a:r>
            <a:endParaRPr lang="en-US" sz="1950" dirty="0"/>
          </a:p>
        </p:txBody>
      </p:sp>
      <p:sp>
        <p:nvSpPr>
          <p:cNvPr id="31" name="Text 29"/>
          <p:cNvSpPr/>
          <p:nvPr/>
        </p:nvSpPr>
        <p:spPr>
          <a:xfrm>
            <a:off x="8191500" y="6372225"/>
            <a:ext cx="7761683"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Deployment, certificates, traffic and conversion measurement</a:t>
            </a:r>
            <a:endParaRPr lang="en-US" sz="1950" dirty="0"/>
          </a:p>
        </p:txBody>
      </p:sp>
      <p:sp>
        <p:nvSpPr>
          <p:cNvPr id="32" name="Text 30"/>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33" name="Text 31"/>
          <p:cNvSpPr/>
          <p:nvPr/>
        </p:nvSpPr>
        <p:spPr>
          <a:xfrm>
            <a:off x="13781336" y="9677400"/>
            <a:ext cx="390958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System Architecture</a:t>
            </a:r>
            <a:endParaRPr lang="en-US" sz="3750" dirty="0"/>
          </a:p>
        </p:txBody>
      </p:sp>
      <p:sp>
        <p:nvSpPr>
          <p:cNvPr id="4" name="Shape 2"/>
          <p:cNvSpPr/>
          <p:nvPr/>
        </p:nvSpPr>
        <p:spPr>
          <a:xfrm>
            <a:off x="1619250" y="2333625"/>
            <a:ext cx="15049500" cy="1200150"/>
          </a:xfrm>
          <a:prstGeom prst="roundRect">
            <a:avLst>
              <a:gd name="adj" fmla="val 3175"/>
            </a:avLst>
          </a:prstGeom>
          <a:solidFill>
            <a:srgbClr val="F0EDE8"/>
          </a:solidFill>
          <a:ln/>
        </p:spPr>
      </p:sp>
      <p:sp>
        <p:nvSpPr>
          <p:cNvPr id="5" name="Text 3"/>
          <p:cNvSpPr/>
          <p:nvPr/>
        </p:nvSpPr>
        <p:spPr>
          <a:xfrm>
            <a:off x="2000250" y="2581275"/>
            <a:ext cx="157162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81412"/>
                </a:solidFill>
                <a:latin typeface="Georgia" pitchFamily="34" charset="0"/>
                <a:ea typeface="Georgia" pitchFamily="34" charset="-122"/>
                <a:cs typeface="Georgia" pitchFamily="34" charset="-120"/>
              </a:rPr>
              <a:t>Client Tier — Browser</a:t>
            </a:r>
            <a:endParaRPr lang="en-US" sz="2100" dirty="0"/>
          </a:p>
        </p:txBody>
      </p:sp>
      <p:sp>
        <p:nvSpPr>
          <p:cNvPr id="6" name="Text 4"/>
          <p:cNvSpPr/>
          <p:nvPr/>
        </p:nvSpPr>
        <p:spPr>
          <a:xfrm>
            <a:off x="2000250" y="3000375"/>
            <a:ext cx="157162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Responsive HTML · compiled Tailwind stylesheet · progressive JavaScript · lazy-loaded imagery</a:t>
            </a:r>
            <a:endParaRPr lang="en-US" sz="1950" dirty="0"/>
          </a:p>
        </p:txBody>
      </p:sp>
      <p:sp>
        <p:nvSpPr>
          <p:cNvPr id="7" name="Text 5"/>
          <p:cNvSpPr/>
          <p:nvPr/>
        </p:nvSpPr>
        <p:spPr>
          <a:xfrm>
            <a:off x="6314480" y="3629025"/>
            <a:ext cx="5828659"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 HTTPS request / rendered HTML response ↓</a:t>
            </a:r>
            <a:endParaRPr lang="en-US" sz="1950" dirty="0"/>
          </a:p>
        </p:txBody>
      </p:sp>
      <p:sp>
        <p:nvSpPr>
          <p:cNvPr id="8" name="Shape 6"/>
          <p:cNvSpPr/>
          <p:nvPr/>
        </p:nvSpPr>
        <p:spPr>
          <a:xfrm>
            <a:off x="1600200" y="4010025"/>
            <a:ext cx="15087600" cy="1247775"/>
          </a:xfrm>
          <a:prstGeom prst="roundRect">
            <a:avLst>
              <a:gd name="adj" fmla="val 3053"/>
            </a:avLst>
          </a:prstGeom>
          <a:solidFill>
            <a:srgbClr val="F0EDE8"/>
          </a:solidFill>
          <a:ln w="19050">
            <a:solidFill>
              <a:srgbClr val="B0592B"/>
            </a:solidFill>
            <a:prstDash val="solid"/>
          </a:ln>
        </p:spPr>
      </p:sp>
      <p:sp>
        <p:nvSpPr>
          <p:cNvPr id="9" name="Text 7"/>
          <p:cNvSpPr/>
          <p:nvPr/>
        </p:nvSpPr>
        <p:spPr>
          <a:xfrm>
            <a:off x="2000250" y="4276725"/>
            <a:ext cx="157162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81412"/>
                </a:solidFill>
                <a:latin typeface="Georgia" pitchFamily="34" charset="0"/>
                <a:ea typeface="Georgia" pitchFamily="34" charset="-122"/>
                <a:cs typeface="Georgia" pitchFamily="34" charset="-120"/>
              </a:rPr>
              <a:t>Application Tier — Node.js &amp; Express</a:t>
            </a:r>
            <a:endParaRPr lang="en-US" sz="2100" dirty="0"/>
          </a:p>
        </p:txBody>
      </p:sp>
      <p:sp>
        <p:nvSpPr>
          <p:cNvPr id="10" name="Text 8"/>
          <p:cNvSpPr/>
          <p:nvPr/>
        </p:nvSpPr>
        <p:spPr>
          <a:xfrm>
            <a:off x="2000250" y="4695825"/>
            <a:ext cx="1571625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Public routes · auth middleware · enquiry pipeline (validate → persist → notify) · authenticated admin routes</a:t>
            </a:r>
            <a:endParaRPr lang="en-US" sz="1950" dirty="0"/>
          </a:p>
        </p:txBody>
      </p:sp>
      <p:sp>
        <p:nvSpPr>
          <p:cNvPr id="11" name="Text 9"/>
          <p:cNvSpPr/>
          <p:nvPr/>
        </p:nvSpPr>
        <p:spPr>
          <a:xfrm>
            <a:off x="7510611" y="5353050"/>
            <a:ext cx="3364781"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 parameterised queries ↓</a:t>
            </a:r>
            <a:endParaRPr lang="en-US" sz="1950" dirty="0"/>
          </a:p>
        </p:txBody>
      </p:sp>
      <p:sp>
        <p:nvSpPr>
          <p:cNvPr id="12" name="Shape 10"/>
          <p:cNvSpPr/>
          <p:nvPr/>
        </p:nvSpPr>
        <p:spPr>
          <a:xfrm>
            <a:off x="1619250" y="5734050"/>
            <a:ext cx="15049500" cy="1200150"/>
          </a:xfrm>
          <a:prstGeom prst="roundRect">
            <a:avLst>
              <a:gd name="adj" fmla="val 3175"/>
            </a:avLst>
          </a:prstGeom>
          <a:solidFill>
            <a:srgbClr val="F0EDE8"/>
          </a:solidFill>
          <a:ln/>
        </p:spPr>
      </p:sp>
      <p:sp>
        <p:nvSpPr>
          <p:cNvPr id="13" name="Text 11"/>
          <p:cNvSpPr/>
          <p:nvPr/>
        </p:nvSpPr>
        <p:spPr>
          <a:xfrm>
            <a:off x="2000250" y="5981700"/>
            <a:ext cx="157162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81412"/>
                </a:solidFill>
                <a:latin typeface="Georgia" pitchFamily="34" charset="0"/>
                <a:ea typeface="Georgia" pitchFamily="34" charset="-122"/>
                <a:cs typeface="Georgia" pitchFamily="34" charset="-120"/>
              </a:rPr>
              <a:t>Data Tier — MySQL</a:t>
            </a:r>
            <a:endParaRPr lang="en-US" sz="2100" dirty="0"/>
          </a:p>
        </p:txBody>
      </p:sp>
      <p:sp>
        <p:nvSpPr>
          <p:cNvPr id="14" name="Text 12"/>
          <p:cNvSpPr/>
          <p:nvPr/>
        </p:nvSpPr>
        <p:spPr>
          <a:xfrm>
            <a:off x="2000250" y="6400800"/>
            <a:ext cx="157162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services · projects · project_images · enquiries · users — with scheduled backup</a:t>
            </a:r>
            <a:endParaRPr lang="en-US" sz="1950" dirty="0"/>
          </a:p>
        </p:txBody>
      </p:sp>
      <p:sp>
        <p:nvSpPr>
          <p:cNvPr id="15" name="Text 13"/>
          <p:cNvSpPr/>
          <p:nvPr/>
        </p:nvSpPr>
        <p:spPr>
          <a:xfrm>
            <a:off x="6757243" y="7029450"/>
            <a:ext cx="4916719"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 served directly with cache headers ↓</a:t>
            </a:r>
            <a:endParaRPr lang="en-US" sz="1950" dirty="0"/>
          </a:p>
        </p:txBody>
      </p:sp>
      <p:sp>
        <p:nvSpPr>
          <p:cNvPr id="16" name="Shape 14"/>
          <p:cNvSpPr/>
          <p:nvPr/>
        </p:nvSpPr>
        <p:spPr>
          <a:xfrm>
            <a:off x="1619250" y="7410450"/>
            <a:ext cx="15049500" cy="1200150"/>
          </a:xfrm>
          <a:prstGeom prst="roundRect">
            <a:avLst>
              <a:gd name="adj" fmla="val 3175"/>
            </a:avLst>
          </a:prstGeom>
          <a:solidFill>
            <a:srgbClr val="F0EDE8"/>
          </a:solidFill>
          <a:ln/>
        </p:spPr>
      </p:sp>
      <p:sp>
        <p:nvSpPr>
          <p:cNvPr id="17" name="Text 15"/>
          <p:cNvSpPr/>
          <p:nvPr/>
        </p:nvSpPr>
        <p:spPr>
          <a:xfrm>
            <a:off x="2000250" y="7658100"/>
            <a:ext cx="157162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81412"/>
                </a:solidFill>
                <a:latin typeface="Georgia" pitchFamily="34" charset="0"/>
                <a:ea typeface="Georgia" pitchFamily="34" charset="-122"/>
                <a:cs typeface="Georgia" pitchFamily="34" charset="-120"/>
              </a:rPr>
              <a:t>Asset Layer</a:t>
            </a:r>
            <a:endParaRPr lang="en-US" sz="2100" dirty="0"/>
          </a:p>
        </p:txBody>
      </p:sp>
      <p:sp>
        <p:nvSpPr>
          <p:cNvPr id="18" name="Text 16"/>
          <p:cNvSpPr/>
          <p:nvPr/>
        </p:nvSpPr>
        <p:spPr>
          <a:xfrm>
            <a:off x="2000250" y="8077200"/>
            <a:ext cx="1571625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Processed photography in multiple widths and modern formats · fonts · compiled CSS · client scripts</a:t>
            </a:r>
            <a:endParaRPr lang="en-US" sz="1950" dirty="0"/>
          </a:p>
        </p:txBody>
      </p:sp>
      <p:sp>
        <p:nvSpPr>
          <p:cNvPr id="19" name="Text 17"/>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20" name="Text 18"/>
          <p:cNvSpPr/>
          <p:nvPr/>
        </p:nvSpPr>
        <p:spPr>
          <a:xfrm>
            <a:off x="13764220" y="9677400"/>
            <a:ext cx="392840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Methodology — Four Phases</a:t>
            </a:r>
            <a:endParaRPr lang="en-US" sz="3750" dirty="0"/>
          </a:p>
        </p:txBody>
      </p:sp>
      <p:sp>
        <p:nvSpPr>
          <p:cNvPr id="4" name="Text 2"/>
          <p:cNvSpPr/>
          <p:nvPr/>
        </p:nvSpPr>
        <p:spPr>
          <a:xfrm>
            <a:off x="952500" y="2143125"/>
            <a:ext cx="14716125"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5D5650"/>
                </a:solidFill>
                <a:latin typeface="Arial" pitchFamily="34" charset="0"/>
                <a:ea typeface="Arial" pitchFamily="34" charset="-122"/>
                <a:cs typeface="Arial" pitchFamily="34" charset="-120"/>
              </a:rPr>
              <a:t>An incremental, phase-wise method: each phase ended in something the firm could see and use, and its review with the Principal Architect set the priorities of the next.</a:t>
            </a:r>
            <a:endParaRPr lang="en-US" sz="1950" dirty="0"/>
          </a:p>
        </p:txBody>
      </p:sp>
      <p:sp>
        <p:nvSpPr>
          <p:cNvPr id="5" name="Shape 3"/>
          <p:cNvSpPr/>
          <p:nvPr/>
        </p:nvSpPr>
        <p:spPr>
          <a:xfrm>
            <a:off x="952500" y="3626941"/>
            <a:ext cx="16383000" cy="19050"/>
          </a:xfrm>
          <a:prstGeom prst="rect">
            <a:avLst/>
          </a:prstGeom>
          <a:solidFill>
            <a:srgbClr val="181412"/>
          </a:solidFill>
          <a:ln/>
        </p:spPr>
      </p:sp>
      <p:sp>
        <p:nvSpPr>
          <p:cNvPr id="6" name="Text 4"/>
          <p:cNvSpPr/>
          <p:nvPr/>
        </p:nvSpPr>
        <p:spPr>
          <a:xfrm>
            <a:off x="952500" y="3179266"/>
            <a:ext cx="13620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5D5650"/>
                </a:solidFill>
                <a:latin typeface="Arial" pitchFamily="34" charset="0"/>
                <a:ea typeface="Arial" pitchFamily="34" charset="-122"/>
                <a:cs typeface="Arial" pitchFamily="34" charset="-120"/>
              </a:rPr>
              <a:t>Phase</a:t>
            </a:r>
            <a:endParaRPr lang="en-US" sz="1950" dirty="0"/>
          </a:p>
        </p:txBody>
      </p:sp>
      <p:sp>
        <p:nvSpPr>
          <p:cNvPr id="7" name="Text 5"/>
          <p:cNvSpPr/>
          <p:nvPr/>
        </p:nvSpPr>
        <p:spPr>
          <a:xfrm>
            <a:off x="2190750" y="3179266"/>
            <a:ext cx="293370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5D5650"/>
                </a:solidFill>
                <a:latin typeface="Arial" pitchFamily="34" charset="0"/>
                <a:ea typeface="Arial" pitchFamily="34" charset="-122"/>
                <a:cs typeface="Arial" pitchFamily="34" charset="-120"/>
              </a:rPr>
              <a:t>Period</a:t>
            </a:r>
            <a:endParaRPr lang="en-US" sz="1950" dirty="0"/>
          </a:p>
        </p:txBody>
      </p:sp>
      <p:sp>
        <p:nvSpPr>
          <p:cNvPr id="8" name="Text 6"/>
          <p:cNvSpPr/>
          <p:nvPr/>
        </p:nvSpPr>
        <p:spPr>
          <a:xfrm>
            <a:off x="4857750" y="3179266"/>
            <a:ext cx="670560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5D5650"/>
                </a:solidFill>
                <a:latin typeface="Arial" pitchFamily="34" charset="0"/>
                <a:ea typeface="Arial" pitchFamily="34" charset="-122"/>
                <a:cs typeface="Arial" pitchFamily="34" charset="-120"/>
              </a:rPr>
              <a:t>Focus</a:t>
            </a:r>
            <a:endParaRPr lang="en-US" sz="1950" dirty="0"/>
          </a:p>
        </p:txBody>
      </p:sp>
      <p:sp>
        <p:nvSpPr>
          <p:cNvPr id="9" name="Text 7"/>
          <p:cNvSpPr/>
          <p:nvPr/>
        </p:nvSpPr>
        <p:spPr>
          <a:xfrm>
            <a:off x="10953750" y="3179266"/>
            <a:ext cx="263460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5D5650"/>
                </a:solidFill>
                <a:latin typeface="Arial" pitchFamily="34" charset="0"/>
                <a:ea typeface="Arial" pitchFamily="34" charset="-122"/>
                <a:cs typeface="Arial" pitchFamily="34" charset="-120"/>
              </a:rPr>
              <a:t>Deliverable at Review</a:t>
            </a:r>
            <a:endParaRPr lang="en-US" sz="1950" dirty="0"/>
          </a:p>
        </p:txBody>
      </p:sp>
      <p:sp>
        <p:nvSpPr>
          <p:cNvPr id="10" name="Shape 8"/>
          <p:cNvSpPr/>
          <p:nvPr/>
        </p:nvSpPr>
        <p:spPr>
          <a:xfrm>
            <a:off x="952500" y="4598491"/>
            <a:ext cx="16383000" cy="9525"/>
          </a:xfrm>
          <a:prstGeom prst="rect">
            <a:avLst/>
          </a:prstGeom>
          <a:solidFill>
            <a:srgbClr val="D5CCC7"/>
          </a:solidFill>
          <a:ln/>
        </p:spPr>
      </p:sp>
      <p:sp>
        <p:nvSpPr>
          <p:cNvPr id="11" name="Text 9"/>
          <p:cNvSpPr/>
          <p:nvPr/>
        </p:nvSpPr>
        <p:spPr>
          <a:xfrm>
            <a:off x="952500" y="3836491"/>
            <a:ext cx="1226344" cy="609600"/>
          </a:xfrm>
          <a:prstGeom prst="rect">
            <a:avLst/>
          </a:prstGeom>
          <a:noFill/>
          <a:ln/>
        </p:spPr>
        <p:txBody>
          <a:bodyPr wrap="square" lIns="25400" tIns="25400" rIns="25400" bIns="25400" rtlCol="0" anchor="t">
            <a:normAutofit/>
          </a:bodyPr>
          <a:lstStyle/>
          <a:p>
            <a:pPr algn="l" indent="0" marL="0">
              <a:buNone/>
            </a:pPr>
            <a:r>
              <a:rPr lang="en-US" sz="1950" b="1" dirty="0">
                <a:solidFill>
                  <a:srgbClr val="B0592B"/>
                </a:solidFill>
                <a:latin typeface="Georgia" pitchFamily="34" charset="0"/>
                <a:ea typeface="Georgia" pitchFamily="34" charset="-122"/>
                <a:cs typeface="Georgia" pitchFamily="34" charset="-120"/>
              </a:rPr>
              <a:t>1</a:t>
            </a:r>
            <a:endParaRPr lang="en-US" sz="1950" dirty="0"/>
          </a:p>
        </p:txBody>
      </p:sp>
      <p:sp>
        <p:nvSpPr>
          <p:cNvPr id="12" name="Text 10"/>
          <p:cNvSpPr/>
          <p:nvPr/>
        </p:nvSpPr>
        <p:spPr>
          <a:xfrm>
            <a:off x="2102644" y="3836491"/>
            <a:ext cx="255344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Jan – Feb 2026</a:t>
            </a:r>
            <a:endParaRPr lang="en-US" sz="1950" dirty="0"/>
          </a:p>
        </p:txBody>
      </p:sp>
      <p:sp>
        <p:nvSpPr>
          <p:cNvPr id="13" name="Text 11"/>
          <p:cNvSpPr/>
          <p:nvPr/>
        </p:nvSpPr>
        <p:spPr>
          <a:xfrm>
            <a:off x="4579888" y="3836491"/>
            <a:ext cx="583218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Discovery, information architecture, design system</a:t>
            </a:r>
            <a:endParaRPr lang="en-US" sz="1950" dirty="0"/>
          </a:p>
        </p:txBody>
      </p:sp>
      <p:sp>
        <p:nvSpPr>
          <p:cNvPr id="14" name="Text 12"/>
          <p:cNvSpPr/>
          <p:nvPr/>
        </p:nvSpPr>
        <p:spPr>
          <a:xfrm>
            <a:off x="10242203" y="3836491"/>
            <a:ext cx="7306096"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Approved Figma system and page designs at three breakpoints</a:t>
            </a:r>
            <a:endParaRPr lang="en-US" sz="1950" dirty="0"/>
          </a:p>
        </p:txBody>
      </p:sp>
      <p:sp>
        <p:nvSpPr>
          <p:cNvPr id="15" name="Shape 13"/>
          <p:cNvSpPr/>
          <p:nvPr/>
        </p:nvSpPr>
        <p:spPr>
          <a:xfrm>
            <a:off x="952500" y="5560516"/>
            <a:ext cx="16383000" cy="9525"/>
          </a:xfrm>
          <a:prstGeom prst="rect">
            <a:avLst/>
          </a:prstGeom>
          <a:solidFill>
            <a:srgbClr val="D5CCC7"/>
          </a:solidFill>
          <a:ln/>
        </p:spPr>
      </p:sp>
      <p:sp>
        <p:nvSpPr>
          <p:cNvPr id="16" name="Text 14"/>
          <p:cNvSpPr/>
          <p:nvPr/>
        </p:nvSpPr>
        <p:spPr>
          <a:xfrm>
            <a:off x="952500" y="4798516"/>
            <a:ext cx="1314450" cy="609600"/>
          </a:xfrm>
          <a:prstGeom prst="rect">
            <a:avLst/>
          </a:prstGeom>
          <a:noFill/>
          <a:ln/>
        </p:spPr>
        <p:txBody>
          <a:bodyPr wrap="square" lIns="25400" tIns="25400" rIns="25400" bIns="25400" rtlCol="0" anchor="t">
            <a:normAutofit/>
          </a:bodyPr>
          <a:lstStyle/>
          <a:p>
            <a:pPr algn="l" indent="0" marL="0">
              <a:buNone/>
            </a:pPr>
            <a:r>
              <a:rPr lang="en-US" sz="1950" b="1" dirty="0">
                <a:solidFill>
                  <a:srgbClr val="B0592B"/>
                </a:solidFill>
                <a:latin typeface="Georgia" pitchFamily="34" charset="0"/>
                <a:ea typeface="Georgia" pitchFamily="34" charset="-122"/>
                <a:cs typeface="Georgia" pitchFamily="34" charset="-120"/>
              </a:rPr>
              <a:t>2</a:t>
            </a:r>
            <a:endParaRPr lang="en-US" sz="1950" dirty="0"/>
          </a:p>
        </p:txBody>
      </p:sp>
      <p:sp>
        <p:nvSpPr>
          <p:cNvPr id="17" name="Text 15"/>
          <p:cNvSpPr/>
          <p:nvPr/>
        </p:nvSpPr>
        <p:spPr>
          <a:xfrm>
            <a:off x="2190750" y="4798516"/>
            <a:ext cx="2747010"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Feb – Mar 2026</a:t>
            </a:r>
            <a:endParaRPr lang="en-US" sz="1950" dirty="0"/>
          </a:p>
        </p:txBody>
      </p:sp>
      <p:sp>
        <p:nvSpPr>
          <p:cNvPr id="18" name="Text 16"/>
          <p:cNvSpPr/>
          <p:nvPr/>
        </p:nvSpPr>
        <p:spPr>
          <a:xfrm>
            <a:off x="4857750" y="4798516"/>
            <a:ext cx="6278880"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Front-end implementation, responsive and accessible</a:t>
            </a:r>
            <a:endParaRPr lang="en-US" sz="1950" dirty="0"/>
          </a:p>
        </p:txBody>
      </p:sp>
      <p:sp>
        <p:nvSpPr>
          <p:cNvPr id="19" name="Text 17"/>
          <p:cNvSpPr/>
          <p:nvPr/>
        </p:nvSpPr>
        <p:spPr>
          <a:xfrm>
            <a:off x="10953750" y="4798516"/>
            <a:ext cx="618782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Working static front end reviewed on real devices</a:t>
            </a:r>
            <a:endParaRPr lang="en-US" sz="1950" dirty="0"/>
          </a:p>
        </p:txBody>
      </p:sp>
      <p:sp>
        <p:nvSpPr>
          <p:cNvPr id="20" name="Shape 18"/>
          <p:cNvSpPr/>
          <p:nvPr/>
        </p:nvSpPr>
        <p:spPr>
          <a:xfrm>
            <a:off x="952500" y="6522541"/>
            <a:ext cx="16383000" cy="9525"/>
          </a:xfrm>
          <a:prstGeom prst="rect">
            <a:avLst/>
          </a:prstGeom>
          <a:solidFill>
            <a:srgbClr val="D5CCC7"/>
          </a:solidFill>
          <a:ln/>
        </p:spPr>
      </p:sp>
      <p:sp>
        <p:nvSpPr>
          <p:cNvPr id="21" name="Text 19"/>
          <p:cNvSpPr/>
          <p:nvPr/>
        </p:nvSpPr>
        <p:spPr>
          <a:xfrm>
            <a:off x="952500" y="5760541"/>
            <a:ext cx="1300014" cy="609600"/>
          </a:xfrm>
          <a:prstGeom prst="rect">
            <a:avLst/>
          </a:prstGeom>
          <a:noFill/>
          <a:ln/>
        </p:spPr>
        <p:txBody>
          <a:bodyPr wrap="square" lIns="25400" tIns="25400" rIns="25400" bIns="25400" rtlCol="0" anchor="t">
            <a:normAutofit/>
          </a:bodyPr>
          <a:lstStyle/>
          <a:p>
            <a:pPr algn="l" indent="0" marL="0">
              <a:buNone/>
            </a:pPr>
            <a:r>
              <a:rPr lang="en-US" sz="1950" b="1" dirty="0">
                <a:solidFill>
                  <a:srgbClr val="B0592B"/>
                </a:solidFill>
                <a:latin typeface="Georgia" pitchFamily="34" charset="0"/>
                <a:ea typeface="Georgia" pitchFamily="34" charset="-122"/>
                <a:cs typeface="Georgia" pitchFamily="34" charset="-120"/>
              </a:rPr>
              <a:t>3</a:t>
            </a:r>
            <a:endParaRPr lang="en-US" sz="1950" dirty="0"/>
          </a:p>
        </p:txBody>
      </p:sp>
      <p:sp>
        <p:nvSpPr>
          <p:cNvPr id="22" name="Text 20"/>
          <p:cNvSpPr/>
          <p:nvPr/>
        </p:nvSpPr>
        <p:spPr>
          <a:xfrm>
            <a:off x="2176314" y="5760541"/>
            <a:ext cx="2715125"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Apr – May 2026</a:t>
            </a:r>
            <a:endParaRPr lang="en-US" sz="1950" dirty="0"/>
          </a:p>
        </p:txBody>
      </p:sp>
      <p:sp>
        <p:nvSpPr>
          <p:cNvPr id="23" name="Text 21"/>
          <p:cNvSpPr/>
          <p:nvPr/>
        </p:nvSpPr>
        <p:spPr>
          <a:xfrm>
            <a:off x="4812357" y="5760541"/>
            <a:ext cx="6205759"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Express app, MySQL schema, enquiry pipeline</a:t>
            </a:r>
            <a:endParaRPr lang="en-US" sz="1950" dirty="0"/>
          </a:p>
        </p:txBody>
      </p:sp>
      <p:sp>
        <p:nvSpPr>
          <p:cNvPr id="24" name="Text 22"/>
          <p:cNvSpPr/>
          <p:nvPr/>
        </p:nvSpPr>
        <p:spPr>
          <a:xfrm>
            <a:off x="10837366" y="5760541"/>
            <a:ext cx="6693078"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Database-driven site with recorded, notified enquiries</a:t>
            </a:r>
            <a:endParaRPr lang="en-US" sz="1950" dirty="0"/>
          </a:p>
        </p:txBody>
      </p:sp>
      <p:sp>
        <p:nvSpPr>
          <p:cNvPr id="25" name="Shape 23"/>
          <p:cNvSpPr/>
          <p:nvPr/>
        </p:nvSpPr>
        <p:spPr>
          <a:xfrm>
            <a:off x="952500" y="7484566"/>
            <a:ext cx="16383000" cy="9525"/>
          </a:xfrm>
          <a:prstGeom prst="rect">
            <a:avLst/>
          </a:prstGeom>
          <a:solidFill>
            <a:srgbClr val="D5CCC7"/>
          </a:solidFill>
          <a:ln/>
        </p:spPr>
      </p:sp>
      <p:sp>
        <p:nvSpPr>
          <p:cNvPr id="26" name="Text 24"/>
          <p:cNvSpPr/>
          <p:nvPr/>
        </p:nvSpPr>
        <p:spPr>
          <a:xfrm>
            <a:off x="952500" y="6722566"/>
            <a:ext cx="1290191" cy="609600"/>
          </a:xfrm>
          <a:prstGeom prst="rect">
            <a:avLst/>
          </a:prstGeom>
          <a:noFill/>
          <a:ln/>
        </p:spPr>
        <p:txBody>
          <a:bodyPr wrap="square" lIns="25400" tIns="25400" rIns="25400" bIns="25400" rtlCol="0" anchor="t">
            <a:normAutofit/>
          </a:bodyPr>
          <a:lstStyle/>
          <a:p>
            <a:pPr algn="l" indent="0" marL="0">
              <a:buNone/>
            </a:pPr>
            <a:r>
              <a:rPr lang="en-US" sz="1950" b="1" dirty="0">
                <a:solidFill>
                  <a:srgbClr val="B0592B"/>
                </a:solidFill>
                <a:latin typeface="Georgia" pitchFamily="34" charset="0"/>
                <a:ea typeface="Georgia" pitchFamily="34" charset="-122"/>
                <a:cs typeface="Georgia" pitchFamily="34" charset="-120"/>
              </a:rPr>
              <a:t>4</a:t>
            </a:r>
            <a:endParaRPr lang="en-US" sz="1950" dirty="0"/>
          </a:p>
        </p:txBody>
      </p:sp>
      <p:sp>
        <p:nvSpPr>
          <p:cNvPr id="27" name="Text 25"/>
          <p:cNvSpPr/>
          <p:nvPr/>
        </p:nvSpPr>
        <p:spPr>
          <a:xfrm>
            <a:off x="2166491" y="6722566"/>
            <a:ext cx="269320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May – Jul 2026</a:t>
            </a:r>
            <a:endParaRPr lang="en-US" sz="1950" dirty="0"/>
          </a:p>
        </p:txBody>
      </p:sp>
      <p:sp>
        <p:nvSpPr>
          <p:cNvPr id="28" name="Text 26"/>
          <p:cNvSpPr/>
          <p:nvPr/>
        </p:nvSpPr>
        <p:spPr>
          <a:xfrm>
            <a:off x="4781252" y="6722566"/>
            <a:ext cx="6155939"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Admin panel, optimisation, deployment, handover</a:t>
            </a:r>
            <a:endParaRPr lang="en-US" sz="1950" dirty="0"/>
          </a:p>
        </p:txBody>
      </p:sp>
      <p:sp>
        <p:nvSpPr>
          <p:cNvPr id="29" name="Text 27"/>
          <p:cNvSpPr/>
          <p:nvPr/>
        </p:nvSpPr>
        <p:spPr>
          <a:xfrm>
            <a:off x="10757892" y="6722566"/>
            <a:ext cx="6774936" cy="609600"/>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Live platform, staff training and written documentation</a:t>
            </a:r>
            <a:endParaRPr lang="en-US" sz="1950" dirty="0"/>
          </a:p>
        </p:txBody>
      </p:sp>
      <p:sp>
        <p:nvSpPr>
          <p:cNvPr id="30" name="Text 28"/>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31" name="Text 29"/>
          <p:cNvSpPr/>
          <p:nvPr/>
        </p:nvSpPr>
        <p:spPr>
          <a:xfrm>
            <a:off x="13764071" y="9677400"/>
            <a:ext cx="392857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PHASE 1 · JAN – FEB 2026</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Discovery &amp; Design System</a:t>
            </a:r>
            <a:endParaRPr lang="en-US" sz="3750" dirty="0"/>
          </a:p>
        </p:txBody>
      </p:sp>
      <p:sp>
        <p:nvSpPr>
          <p:cNvPr id="4" name="Shape 2"/>
          <p:cNvSpPr/>
          <p:nvPr/>
        </p:nvSpPr>
        <p:spPr>
          <a:xfrm>
            <a:off x="952500" y="2466975"/>
            <a:ext cx="76200" cy="76200"/>
          </a:xfrm>
          <a:prstGeom prst="ellipse">
            <a:avLst/>
          </a:prstGeom>
          <a:solidFill>
            <a:srgbClr val="B0592B"/>
          </a:solidFill>
          <a:ln/>
        </p:spPr>
      </p:sp>
      <p:sp>
        <p:nvSpPr>
          <p:cNvPr id="5" name="Text 3"/>
          <p:cNvSpPr/>
          <p:nvPr/>
        </p:nvSpPr>
        <p:spPr>
          <a:xfrm>
            <a:off x="1257300" y="2333625"/>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Discovery interviews with the Principal Architect and site team found that clients browse by resemblance, not by service — shaping a project archive filterable by type, not just by vertical</a:t>
            </a:r>
            <a:endParaRPr lang="en-US" sz="2175" dirty="0"/>
          </a:p>
        </p:txBody>
      </p:sp>
      <p:sp>
        <p:nvSpPr>
          <p:cNvPr id="6" name="Shape 4"/>
          <p:cNvSpPr/>
          <p:nvPr/>
        </p:nvSpPr>
        <p:spPr>
          <a:xfrm>
            <a:off x="952500" y="3487936"/>
            <a:ext cx="76200" cy="76200"/>
          </a:xfrm>
          <a:prstGeom prst="ellipse">
            <a:avLst/>
          </a:prstGeom>
          <a:solidFill>
            <a:srgbClr val="B0592B"/>
          </a:solidFill>
          <a:ln/>
        </p:spPr>
      </p:sp>
      <p:sp>
        <p:nvSpPr>
          <p:cNvPr id="7" name="Text 5"/>
          <p:cNvSpPr/>
          <p:nvPr/>
        </p:nvSpPr>
        <p:spPr>
          <a:xfrm>
            <a:off x="1257300" y="3354586"/>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Map Approval enquiries are procedural, not aesthetic — that page was designed around checklists and timelines instead of a portfolio</a:t>
            </a:r>
            <a:endParaRPr lang="en-US" sz="2175" dirty="0"/>
          </a:p>
        </p:txBody>
      </p:sp>
      <p:sp>
        <p:nvSpPr>
          <p:cNvPr id="8" name="Shape 6"/>
          <p:cNvSpPr/>
          <p:nvPr/>
        </p:nvSpPr>
        <p:spPr>
          <a:xfrm>
            <a:off x="952500" y="4508897"/>
            <a:ext cx="76200" cy="76200"/>
          </a:xfrm>
          <a:prstGeom prst="ellipse">
            <a:avLst/>
          </a:prstGeom>
          <a:solidFill>
            <a:srgbClr val="B0592B"/>
          </a:solidFill>
          <a:ln/>
        </p:spPr>
      </p:sp>
      <p:sp>
        <p:nvSpPr>
          <p:cNvPr id="9" name="Text 7"/>
          <p:cNvSpPr/>
          <p:nvPr/>
        </p:nvSpPr>
        <p:spPr>
          <a:xfrm>
            <a:off x="1257300" y="4375547"/>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Almost all traffic would arrive on mobile from Instagram, so every layout was designed at 360px first and expanded upward</a:t>
            </a:r>
            <a:endParaRPr lang="en-US" sz="2175" dirty="0"/>
          </a:p>
        </p:txBody>
      </p:sp>
      <p:sp>
        <p:nvSpPr>
          <p:cNvPr id="10" name="Shape 8"/>
          <p:cNvSpPr/>
          <p:nvPr/>
        </p:nvSpPr>
        <p:spPr>
          <a:xfrm>
            <a:off x="952500" y="5529858"/>
            <a:ext cx="76200" cy="76200"/>
          </a:xfrm>
          <a:prstGeom prst="ellipse">
            <a:avLst/>
          </a:prstGeom>
          <a:solidFill>
            <a:srgbClr val="B0592B"/>
          </a:solidFill>
          <a:ln/>
        </p:spPr>
      </p:sp>
      <p:sp>
        <p:nvSpPr>
          <p:cNvPr id="11" name="Text 9"/>
          <p:cNvSpPr/>
          <p:nvPr/>
        </p:nvSpPr>
        <p:spPr>
          <a:xfrm>
            <a:off x="1257300" y="5396508"/>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The Figma design system used a near-monochrome palette, one typographic pairing and a twelve-column grid, with every colour pair checked against WCAG 2.1 AA at definition</a:t>
            </a:r>
            <a:endParaRPr lang="en-US" sz="2175" dirty="0"/>
          </a:p>
        </p:txBody>
      </p:sp>
      <p:sp>
        <p:nvSpPr>
          <p:cNvPr id="12" name="Text 10"/>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13" name="Text 11"/>
          <p:cNvSpPr/>
          <p:nvPr/>
        </p:nvSpPr>
        <p:spPr>
          <a:xfrm>
            <a:off x="13820477" y="9677400"/>
            <a:ext cx="386652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PHASE 2 · FEB – MAR 2026</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Front-End Implementation</a:t>
            </a:r>
            <a:endParaRPr lang="en-US" sz="3750" dirty="0"/>
          </a:p>
        </p:txBody>
      </p:sp>
      <p:sp>
        <p:nvSpPr>
          <p:cNvPr id="4" name="Shape 2"/>
          <p:cNvSpPr/>
          <p:nvPr/>
        </p:nvSpPr>
        <p:spPr>
          <a:xfrm>
            <a:off x="952500" y="2466975"/>
            <a:ext cx="76200" cy="76200"/>
          </a:xfrm>
          <a:prstGeom prst="ellipse">
            <a:avLst/>
          </a:prstGeom>
          <a:solidFill>
            <a:srgbClr val="B0592B"/>
          </a:solidFill>
          <a:ln/>
        </p:spPr>
      </p:sp>
      <p:sp>
        <p:nvSpPr>
          <p:cNvPr id="5" name="Text 3"/>
          <p:cNvSpPr/>
          <p:nvPr/>
        </p:nvSpPr>
        <p:spPr>
          <a:xfrm>
            <a:off x="1257300" y="2333625"/>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Figma tokens were transferred into the Tailwind configuration first, so no spacing, type size or colour could enter the codebase outside the system</a:t>
            </a:r>
            <a:endParaRPr lang="en-US" sz="2175" dirty="0"/>
          </a:p>
        </p:txBody>
      </p:sp>
      <p:sp>
        <p:nvSpPr>
          <p:cNvPr id="6" name="Shape 4"/>
          <p:cNvSpPr/>
          <p:nvPr/>
        </p:nvSpPr>
        <p:spPr>
          <a:xfrm>
            <a:off x="952500" y="3487936"/>
            <a:ext cx="76200" cy="76200"/>
          </a:xfrm>
          <a:prstGeom prst="ellipse">
            <a:avLst/>
          </a:prstGeom>
          <a:solidFill>
            <a:srgbClr val="B0592B"/>
          </a:solidFill>
          <a:ln/>
        </p:spPr>
      </p:sp>
      <p:sp>
        <p:nvSpPr>
          <p:cNvPr id="7" name="Text 5"/>
          <p:cNvSpPr/>
          <p:nvPr/>
        </p:nvSpPr>
        <p:spPr>
          <a:xfrm>
            <a:off x="1257300" y="3354586"/>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JavaScript was written as an enhancement: every page stays readable and every form stays submittable with scripting disabled</a:t>
            </a:r>
            <a:endParaRPr lang="en-US" sz="2175" dirty="0"/>
          </a:p>
        </p:txBody>
      </p:sp>
      <p:sp>
        <p:nvSpPr>
          <p:cNvPr id="8" name="Shape 6"/>
          <p:cNvSpPr/>
          <p:nvPr/>
        </p:nvSpPr>
        <p:spPr>
          <a:xfrm>
            <a:off x="952500" y="4508897"/>
            <a:ext cx="76200" cy="76200"/>
          </a:xfrm>
          <a:prstGeom prst="ellipse">
            <a:avLst/>
          </a:prstGeom>
          <a:solidFill>
            <a:srgbClr val="B0592B"/>
          </a:solidFill>
          <a:ln/>
        </p:spPr>
      </p:sp>
      <p:sp>
        <p:nvSpPr>
          <p:cNvPr id="9" name="Text 7"/>
          <p:cNvSpPr/>
          <p:nvPr/>
        </p:nvSpPr>
        <p:spPr>
          <a:xfrm>
            <a:off x="1257300" y="4375547"/>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Testing on real devices found the enquiry call-to-action sitting outside comfortable thumb reach — layouts were revised, and every interactive target audited to 44px minimum</a:t>
            </a:r>
            <a:endParaRPr lang="en-US" sz="2175" dirty="0"/>
          </a:p>
        </p:txBody>
      </p:sp>
      <p:sp>
        <p:nvSpPr>
          <p:cNvPr id="10" name="Shape 8"/>
          <p:cNvSpPr/>
          <p:nvPr/>
        </p:nvSpPr>
        <p:spPr>
          <a:xfrm>
            <a:off x="952500" y="5529858"/>
            <a:ext cx="76200" cy="76200"/>
          </a:xfrm>
          <a:prstGeom prst="ellipse">
            <a:avLst/>
          </a:prstGeom>
          <a:solidFill>
            <a:srgbClr val="B0592B"/>
          </a:solidFill>
          <a:ln/>
        </p:spPr>
      </p:sp>
      <p:sp>
        <p:nvSpPr>
          <p:cNvPr id="11" name="Text 9"/>
          <p:cNvSpPr/>
          <p:nvPr/>
        </p:nvSpPr>
        <p:spPr>
          <a:xfrm>
            <a:off x="1257300" y="5396508"/>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Keyboard-only testing found the lightbox trapped focus incorrectly; fixing focus containment and restoration took longer than building the lightbox</a:t>
            </a:r>
            <a:endParaRPr lang="en-US" sz="2175" dirty="0"/>
          </a:p>
        </p:txBody>
      </p:sp>
      <p:sp>
        <p:nvSpPr>
          <p:cNvPr id="12" name="Text 10"/>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13" name="Text 11"/>
          <p:cNvSpPr/>
          <p:nvPr/>
        </p:nvSpPr>
        <p:spPr>
          <a:xfrm>
            <a:off x="13873460" y="9677400"/>
            <a:ext cx="380824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PHASE 3 · APR – MAY 2026</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Server, Database &amp; Enquiry Pipeline</a:t>
            </a:r>
            <a:endParaRPr lang="en-US" sz="3750" dirty="0"/>
          </a:p>
        </p:txBody>
      </p:sp>
      <p:sp>
        <p:nvSpPr>
          <p:cNvPr id="4" name="Shape 2"/>
          <p:cNvSpPr/>
          <p:nvPr/>
        </p:nvSpPr>
        <p:spPr>
          <a:xfrm>
            <a:off x="952500" y="2466975"/>
            <a:ext cx="76200" cy="76200"/>
          </a:xfrm>
          <a:prstGeom prst="ellipse">
            <a:avLst/>
          </a:prstGeom>
          <a:solidFill>
            <a:srgbClr val="B0592B"/>
          </a:solidFill>
          <a:ln/>
        </p:spPr>
      </p:sp>
      <p:sp>
        <p:nvSpPr>
          <p:cNvPr id="5" name="Text 3"/>
          <p:cNvSpPr/>
          <p:nvPr/>
        </p:nvSpPr>
        <p:spPr>
          <a:xfrm>
            <a:off x="1257300" y="2333625"/>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The MySQL schema was normalised to third normal form and built through version-controlled migration scripts, rebuildable from scratch</a:t>
            </a:r>
            <a:endParaRPr lang="en-US" sz="2175" dirty="0"/>
          </a:p>
        </p:txBody>
      </p:sp>
      <p:sp>
        <p:nvSpPr>
          <p:cNvPr id="6" name="Shape 4"/>
          <p:cNvSpPr/>
          <p:nvPr/>
        </p:nvSpPr>
        <p:spPr>
          <a:xfrm>
            <a:off x="952500" y="3487936"/>
            <a:ext cx="76200" cy="76200"/>
          </a:xfrm>
          <a:prstGeom prst="ellipse">
            <a:avLst/>
          </a:prstGeom>
          <a:solidFill>
            <a:srgbClr val="B0592B"/>
          </a:solidFill>
          <a:ln/>
        </p:spPr>
      </p:sp>
      <p:sp>
        <p:nvSpPr>
          <p:cNvPr id="7" name="Text 5"/>
          <p:cNvSpPr/>
          <p:nvPr/>
        </p:nvSpPr>
        <p:spPr>
          <a:xfrm>
            <a:off x="1257300" y="3354586"/>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Express routes stayed thin — a route resolves parameters, calls a query function, renders a template; no SQL lives inside a route handler</a:t>
            </a:r>
            <a:endParaRPr lang="en-US" sz="2175" dirty="0"/>
          </a:p>
        </p:txBody>
      </p:sp>
      <p:sp>
        <p:nvSpPr>
          <p:cNvPr id="8" name="Shape 6"/>
          <p:cNvSpPr/>
          <p:nvPr/>
        </p:nvSpPr>
        <p:spPr>
          <a:xfrm>
            <a:off x="952500" y="4508897"/>
            <a:ext cx="76200" cy="76200"/>
          </a:xfrm>
          <a:prstGeom prst="ellipse">
            <a:avLst/>
          </a:prstGeom>
          <a:solidFill>
            <a:srgbClr val="B0592B"/>
          </a:solidFill>
          <a:ln/>
        </p:spPr>
      </p:sp>
      <p:sp>
        <p:nvSpPr>
          <p:cNvPr id="9" name="Text 7"/>
          <p:cNvSpPr/>
          <p:nvPr/>
        </p:nvSpPr>
        <p:spPr>
          <a:xfrm>
            <a:off x="1257300" y="4375547"/>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Every enquiry field is validated again on the server; a valid submission is written to the database inside a transaction before triggering an email notification, so a mail failure never loses a lead</a:t>
            </a:r>
            <a:endParaRPr lang="en-US" sz="2175" dirty="0"/>
          </a:p>
        </p:txBody>
      </p:sp>
      <p:sp>
        <p:nvSpPr>
          <p:cNvPr id="10" name="Shape 8"/>
          <p:cNvSpPr/>
          <p:nvPr/>
        </p:nvSpPr>
        <p:spPr>
          <a:xfrm>
            <a:off x="952500" y="5529858"/>
            <a:ext cx="76200" cy="76200"/>
          </a:xfrm>
          <a:prstGeom prst="ellipse">
            <a:avLst/>
          </a:prstGeom>
          <a:solidFill>
            <a:srgbClr val="B0592B"/>
          </a:solidFill>
          <a:ln/>
        </p:spPr>
      </p:sp>
      <p:sp>
        <p:nvSpPr>
          <p:cNvPr id="11" name="Text 9"/>
          <p:cNvSpPr/>
          <p:nvPr/>
        </p:nvSpPr>
        <p:spPr>
          <a:xfrm>
            <a:off x="1257300" y="5396508"/>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Rate limiting and a hidden honeypot field handle spam without a challenge; the firm could, for the first time, answer how many enquiries it received in a week and for which service</a:t>
            </a:r>
            <a:endParaRPr lang="en-US" sz="2175" dirty="0"/>
          </a:p>
        </p:txBody>
      </p:sp>
      <p:sp>
        <p:nvSpPr>
          <p:cNvPr id="12" name="Text 10"/>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13" name="Text 11"/>
          <p:cNvSpPr/>
          <p:nvPr/>
        </p:nvSpPr>
        <p:spPr>
          <a:xfrm>
            <a:off x="13829407" y="9677400"/>
            <a:ext cx="385670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PHASE 4 · MAY – JUL 2026</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Admin Panel, Optimisation &amp; Handover</a:t>
            </a:r>
            <a:endParaRPr lang="en-US" sz="3750" dirty="0"/>
          </a:p>
        </p:txBody>
      </p:sp>
      <p:sp>
        <p:nvSpPr>
          <p:cNvPr id="4" name="Shape 2"/>
          <p:cNvSpPr/>
          <p:nvPr/>
        </p:nvSpPr>
        <p:spPr>
          <a:xfrm>
            <a:off x="952500" y="2466975"/>
            <a:ext cx="76200" cy="76200"/>
          </a:xfrm>
          <a:prstGeom prst="ellipse">
            <a:avLst/>
          </a:prstGeom>
          <a:solidFill>
            <a:srgbClr val="B0592B"/>
          </a:solidFill>
          <a:ln/>
        </p:spPr>
      </p:sp>
      <p:sp>
        <p:nvSpPr>
          <p:cNvPr id="5" name="Text 3"/>
          <p:cNvSpPr/>
          <p:nvPr/>
        </p:nvSpPr>
        <p:spPr>
          <a:xfrm>
            <a:off x="1257300" y="2333625"/>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Staff can add and edit projects, upload and reorder photographs, and review enquiries — tested by watching a staff member add a real project unaided</a:t>
            </a:r>
            <a:endParaRPr lang="en-US" sz="2175" dirty="0"/>
          </a:p>
        </p:txBody>
      </p:sp>
      <p:sp>
        <p:nvSpPr>
          <p:cNvPr id="6" name="Shape 4"/>
          <p:cNvSpPr/>
          <p:nvPr/>
        </p:nvSpPr>
        <p:spPr>
          <a:xfrm>
            <a:off x="952500" y="3487936"/>
            <a:ext cx="76200" cy="76200"/>
          </a:xfrm>
          <a:prstGeom prst="ellipse">
            <a:avLst/>
          </a:prstGeom>
          <a:solidFill>
            <a:srgbClr val="B0592B"/>
          </a:solidFill>
          <a:ln/>
        </p:spPr>
      </p:sp>
      <p:sp>
        <p:nvSpPr>
          <p:cNvPr id="7" name="Text 5"/>
          <p:cNvSpPr/>
          <p:nvPr/>
        </p:nvSpPr>
        <p:spPr>
          <a:xfrm>
            <a:off x="1257300" y="3354586"/>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Uploaded photography is processed into multiple widths in a modern format, lazily loaded, with dimensions declared to eliminate layout shift</a:t>
            </a:r>
            <a:endParaRPr lang="en-US" sz="2175" dirty="0"/>
          </a:p>
        </p:txBody>
      </p:sp>
      <p:sp>
        <p:nvSpPr>
          <p:cNvPr id="8" name="Shape 6"/>
          <p:cNvSpPr/>
          <p:nvPr/>
        </p:nvSpPr>
        <p:spPr>
          <a:xfrm>
            <a:off x="952500" y="4508897"/>
            <a:ext cx="76200" cy="76200"/>
          </a:xfrm>
          <a:prstGeom prst="ellipse">
            <a:avLst/>
          </a:prstGeom>
          <a:solidFill>
            <a:srgbClr val="B0592B"/>
          </a:solidFill>
          <a:ln/>
        </p:spPr>
      </p:sp>
      <p:sp>
        <p:nvSpPr>
          <p:cNvPr id="9" name="Text 7"/>
          <p:cNvSpPr/>
          <p:nvPr/>
        </p:nvSpPr>
        <p:spPr>
          <a:xfrm>
            <a:off x="1257300" y="4375547"/>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Every page received purpose-written metadata, a coherent heading hierarchy, local-business structured data and a database-generated sitemap</a:t>
            </a:r>
            <a:endParaRPr lang="en-US" sz="2175" dirty="0"/>
          </a:p>
        </p:txBody>
      </p:sp>
      <p:sp>
        <p:nvSpPr>
          <p:cNvPr id="10" name="Shape 8"/>
          <p:cNvSpPr/>
          <p:nvPr/>
        </p:nvSpPr>
        <p:spPr>
          <a:xfrm>
            <a:off x="952500" y="5529858"/>
            <a:ext cx="76200" cy="76200"/>
          </a:xfrm>
          <a:prstGeom prst="ellipse">
            <a:avLst/>
          </a:prstGeom>
          <a:solidFill>
            <a:srgbClr val="B0592B"/>
          </a:solidFill>
          <a:ln/>
        </p:spPr>
      </p:sp>
      <p:sp>
        <p:nvSpPr>
          <p:cNvPr id="11" name="Text 9"/>
          <p:cNvSpPr/>
          <p:nvPr/>
        </p:nvSpPr>
        <p:spPr>
          <a:xfrm>
            <a:off x="1257300" y="5396508"/>
            <a:ext cx="15383256"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The internship closed with production deployment, a documented backup and restore procedure, staff training, and written operating documentation</a:t>
            </a:r>
            <a:endParaRPr lang="en-US" sz="2175" dirty="0"/>
          </a:p>
        </p:txBody>
      </p:sp>
      <p:sp>
        <p:nvSpPr>
          <p:cNvPr id="12" name="Text 10"/>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13" name="Text 11"/>
          <p:cNvSpPr/>
          <p:nvPr/>
        </p:nvSpPr>
        <p:spPr>
          <a:xfrm>
            <a:off x="13829407" y="9677400"/>
            <a:ext cx="385670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Outcomes Achieved</a:t>
            </a:r>
            <a:endParaRPr lang="en-US" sz="3750" dirty="0"/>
          </a:p>
        </p:txBody>
      </p:sp>
      <p:sp>
        <p:nvSpPr>
          <p:cNvPr id="4" name="Shape 2"/>
          <p:cNvSpPr/>
          <p:nvPr/>
        </p:nvSpPr>
        <p:spPr>
          <a:xfrm>
            <a:off x="952500" y="2933700"/>
            <a:ext cx="16383000" cy="9525"/>
          </a:xfrm>
          <a:prstGeom prst="rect">
            <a:avLst/>
          </a:prstGeom>
          <a:solidFill>
            <a:srgbClr val="D5CCC7"/>
          </a:solidFill>
          <a:ln/>
        </p:spPr>
      </p:sp>
      <p:sp>
        <p:nvSpPr>
          <p:cNvPr id="5" name="Text 3"/>
          <p:cNvSpPr/>
          <p:nvPr/>
        </p:nvSpPr>
        <p:spPr>
          <a:xfrm>
            <a:off x="952500" y="2466975"/>
            <a:ext cx="649605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A live, database-driven platform</a:t>
            </a:r>
            <a:endParaRPr lang="en-US" sz="1950" dirty="0"/>
          </a:p>
        </p:txBody>
      </p:sp>
      <p:sp>
        <p:nvSpPr>
          <p:cNvPr id="6" name="Text 4"/>
          <p:cNvSpPr/>
          <p:nvPr/>
        </p:nvSpPr>
        <p:spPr>
          <a:xfrm>
            <a:off x="6858000" y="2466975"/>
            <a:ext cx="1095077"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B0592B"/>
                </a:solidFill>
                <a:latin typeface="Arial" pitchFamily="34" charset="0"/>
                <a:ea typeface="Arial" pitchFamily="34" charset="-122"/>
                <a:cs typeface="Arial" pitchFamily="34" charset="-120"/>
              </a:rPr>
              <a:t>Achieved</a:t>
            </a:r>
            <a:endParaRPr lang="en-US" sz="1950" dirty="0"/>
          </a:p>
        </p:txBody>
      </p:sp>
      <p:sp>
        <p:nvSpPr>
          <p:cNvPr id="7" name="Shape 5"/>
          <p:cNvSpPr/>
          <p:nvPr/>
        </p:nvSpPr>
        <p:spPr>
          <a:xfrm>
            <a:off x="952500" y="3581400"/>
            <a:ext cx="16383000" cy="9525"/>
          </a:xfrm>
          <a:prstGeom prst="rect">
            <a:avLst/>
          </a:prstGeom>
          <a:solidFill>
            <a:srgbClr val="D5CCC7"/>
          </a:solidFill>
          <a:ln/>
        </p:spPr>
      </p:sp>
      <p:sp>
        <p:nvSpPr>
          <p:cNvPr id="8" name="Text 6"/>
          <p:cNvSpPr/>
          <p:nvPr/>
        </p:nvSpPr>
        <p:spPr>
          <a:xfrm>
            <a:off x="952500" y="3114675"/>
            <a:ext cx="649605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A documented, drift-free design system</a:t>
            </a:r>
            <a:endParaRPr lang="en-US" sz="1950" dirty="0"/>
          </a:p>
        </p:txBody>
      </p:sp>
      <p:sp>
        <p:nvSpPr>
          <p:cNvPr id="9" name="Text 7"/>
          <p:cNvSpPr/>
          <p:nvPr/>
        </p:nvSpPr>
        <p:spPr>
          <a:xfrm>
            <a:off x="6858000" y="3114675"/>
            <a:ext cx="1095077"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B0592B"/>
                </a:solidFill>
                <a:latin typeface="Arial" pitchFamily="34" charset="0"/>
                <a:ea typeface="Arial" pitchFamily="34" charset="-122"/>
                <a:cs typeface="Arial" pitchFamily="34" charset="-120"/>
              </a:rPr>
              <a:t>Achieved</a:t>
            </a:r>
            <a:endParaRPr lang="en-US" sz="1950" dirty="0"/>
          </a:p>
        </p:txBody>
      </p:sp>
      <p:sp>
        <p:nvSpPr>
          <p:cNvPr id="10" name="Shape 8"/>
          <p:cNvSpPr/>
          <p:nvPr/>
        </p:nvSpPr>
        <p:spPr>
          <a:xfrm>
            <a:off x="952500" y="4229100"/>
            <a:ext cx="16383000" cy="9525"/>
          </a:xfrm>
          <a:prstGeom prst="rect">
            <a:avLst/>
          </a:prstGeom>
          <a:solidFill>
            <a:srgbClr val="D5CCC7"/>
          </a:solidFill>
          <a:ln/>
        </p:spPr>
      </p:sp>
      <p:sp>
        <p:nvSpPr>
          <p:cNvPr id="11" name="Text 9"/>
          <p:cNvSpPr/>
          <p:nvPr/>
        </p:nvSpPr>
        <p:spPr>
          <a:xfrm>
            <a:off x="952500" y="3762375"/>
            <a:ext cx="649605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A structured enquiry pipeline</a:t>
            </a:r>
            <a:endParaRPr lang="en-US" sz="1950" dirty="0"/>
          </a:p>
        </p:txBody>
      </p:sp>
      <p:sp>
        <p:nvSpPr>
          <p:cNvPr id="12" name="Text 10"/>
          <p:cNvSpPr/>
          <p:nvPr/>
        </p:nvSpPr>
        <p:spPr>
          <a:xfrm>
            <a:off x="6858000" y="3762375"/>
            <a:ext cx="1095077"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B0592B"/>
                </a:solidFill>
                <a:latin typeface="Arial" pitchFamily="34" charset="0"/>
                <a:ea typeface="Arial" pitchFamily="34" charset="-122"/>
                <a:cs typeface="Arial" pitchFamily="34" charset="-120"/>
              </a:rPr>
              <a:t>Achieved</a:t>
            </a:r>
            <a:endParaRPr lang="en-US" sz="1950" dirty="0"/>
          </a:p>
        </p:txBody>
      </p:sp>
      <p:sp>
        <p:nvSpPr>
          <p:cNvPr id="13" name="Shape 11"/>
          <p:cNvSpPr/>
          <p:nvPr/>
        </p:nvSpPr>
        <p:spPr>
          <a:xfrm>
            <a:off x="952500" y="4876800"/>
            <a:ext cx="16383000" cy="9525"/>
          </a:xfrm>
          <a:prstGeom prst="rect">
            <a:avLst/>
          </a:prstGeom>
          <a:solidFill>
            <a:srgbClr val="D5CCC7"/>
          </a:solidFill>
          <a:ln/>
        </p:spPr>
      </p:sp>
      <p:sp>
        <p:nvSpPr>
          <p:cNvPr id="14" name="Text 12"/>
          <p:cNvSpPr/>
          <p:nvPr/>
        </p:nvSpPr>
        <p:spPr>
          <a:xfrm>
            <a:off x="952500" y="4410075"/>
            <a:ext cx="649605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Independent content maintenance by staff</a:t>
            </a:r>
            <a:endParaRPr lang="en-US" sz="1950" dirty="0"/>
          </a:p>
        </p:txBody>
      </p:sp>
      <p:sp>
        <p:nvSpPr>
          <p:cNvPr id="15" name="Text 13"/>
          <p:cNvSpPr/>
          <p:nvPr/>
        </p:nvSpPr>
        <p:spPr>
          <a:xfrm>
            <a:off x="6858000" y="4410075"/>
            <a:ext cx="1095077"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B0592B"/>
                </a:solidFill>
                <a:latin typeface="Arial" pitchFamily="34" charset="0"/>
                <a:ea typeface="Arial" pitchFamily="34" charset="-122"/>
                <a:cs typeface="Arial" pitchFamily="34" charset="-120"/>
              </a:rPr>
              <a:t>Achieved</a:t>
            </a:r>
            <a:endParaRPr lang="en-US" sz="1950" dirty="0"/>
          </a:p>
        </p:txBody>
      </p:sp>
      <p:sp>
        <p:nvSpPr>
          <p:cNvPr id="16" name="Shape 14"/>
          <p:cNvSpPr/>
          <p:nvPr/>
        </p:nvSpPr>
        <p:spPr>
          <a:xfrm>
            <a:off x="952500" y="5524500"/>
            <a:ext cx="16383000" cy="9525"/>
          </a:xfrm>
          <a:prstGeom prst="rect">
            <a:avLst/>
          </a:prstGeom>
          <a:solidFill>
            <a:srgbClr val="D5CCC7"/>
          </a:solidFill>
          <a:ln/>
        </p:spPr>
      </p:sp>
      <p:sp>
        <p:nvSpPr>
          <p:cNvPr id="17" name="Text 15"/>
          <p:cNvSpPr/>
          <p:nvPr/>
        </p:nvSpPr>
        <p:spPr>
          <a:xfrm>
            <a:off x="952500" y="5057775"/>
            <a:ext cx="649605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Measurable mobile performance improvement</a:t>
            </a:r>
            <a:endParaRPr lang="en-US" sz="1950" dirty="0"/>
          </a:p>
        </p:txBody>
      </p:sp>
      <p:sp>
        <p:nvSpPr>
          <p:cNvPr id="18" name="Text 16"/>
          <p:cNvSpPr/>
          <p:nvPr/>
        </p:nvSpPr>
        <p:spPr>
          <a:xfrm>
            <a:off x="6858000" y="5057775"/>
            <a:ext cx="1095077"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B0592B"/>
                </a:solidFill>
                <a:latin typeface="Arial" pitchFamily="34" charset="0"/>
                <a:ea typeface="Arial" pitchFamily="34" charset="-122"/>
                <a:cs typeface="Arial" pitchFamily="34" charset="-120"/>
              </a:rPr>
              <a:t>Achieved</a:t>
            </a:r>
            <a:endParaRPr lang="en-US" sz="1950" dirty="0"/>
          </a:p>
        </p:txBody>
      </p:sp>
      <p:sp>
        <p:nvSpPr>
          <p:cNvPr id="19" name="Shape 17"/>
          <p:cNvSpPr/>
          <p:nvPr/>
        </p:nvSpPr>
        <p:spPr>
          <a:xfrm>
            <a:off x="952500" y="6172200"/>
            <a:ext cx="16383000" cy="9525"/>
          </a:xfrm>
          <a:prstGeom prst="rect">
            <a:avLst/>
          </a:prstGeom>
          <a:solidFill>
            <a:srgbClr val="D5CCC7"/>
          </a:solidFill>
          <a:ln/>
        </p:spPr>
      </p:sp>
      <p:sp>
        <p:nvSpPr>
          <p:cNvPr id="20" name="Text 18"/>
          <p:cNvSpPr/>
          <p:nvPr/>
        </p:nvSpPr>
        <p:spPr>
          <a:xfrm>
            <a:off x="952500" y="5705475"/>
            <a:ext cx="649605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Technical search foundation</a:t>
            </a:r>
            <a:endParaRPr lang="en-US" sz="1950" dirty="0"/>
          </a:p>
        </p:txBody>
      </p:sp>
      <p:sp>
        <p:nvSpPr>
          <p:cNvPr id="21" name="Text 19"/>
          <p:cNvSpPr/>
          <p:nvPr/>
        </p:nvSpPr>
        <p:spPr>
          <a:xfrm>
            <a:off x="6858000" y="5705475"/>
            <a:ext cx="5648191"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5D5650"/>
                </a:solidFill>
                <a:latin typeface="Arial" pitchFamily="34" charset="0"/>
                <a:ea typeface="Arial" pitchFamily="34" charset="-122"/>
                <a:cs typeface="Arial" pitchFamily="34" charset="-120"/>
              </a:rPr>
              <a:t>Foundation in place, ranking accrues over time</a:t>
            </a:r>
            <a:endParaRPr lang="en-US" sz="1950" dirty="0"/>
          </a:p>
        </p:txBody>
      </p:sp>
      <p:sp>
        <p:nvSpPr>
          <p:cNvPr id="22" name="Shape 20"/>
          <p:cNvSpPr/>
          <p:nvPr/>
        </p:nvSpPr>
        <p:spPr>
          <a:xfrm>
            <a:off x="952500" y="6819900"/>
            <a:ext cx="16383000" cy="9525"/>
          </a:xfrm>
          <a:prstGeom prst="rect">
            <a:avLst/>
          </a:prstGeom>
          <a:solidFill>
            <a:srgbClr val="D5CCC7"/>
          </a:solidFill>
          <a:ln/>
        </p:spPr>
      </p:sp>
      <p:sp>
        <p:nvSpPr>
          <p:cNvPr id="23" name="Text 21"/>
          <p:cNvSpPr/>
          <p:nvPr/>
        </p:nvSpPr>
        <p:spPr>
          <a:xfrm>
            <a:off x="952500" y="6353175"/>
            <a:ext cx="649605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81412"/>
                </a:solidFill>
                <a:latin typeface="Arial" pitchFamily="34" charset="0"/>
                <a:ea typeface="Arial" pitchFamily="34" charset="-122"/>
                <a:cs typeface="Arial" pitchFamily="34" charset="-120"/>
              </a:rPr>
              <a:t>WCAG 2.1 Level AA accessibility</a:t>
            </a:r>
            <a:endParaRPr lang="en-US" sz="1950" dirty="0"/>
          </a:p>
        </p:txBody>
      </p:sp>
      <p:sp>
        <p:nvSpPr>
          <p:cNvPr id="24" name="Text 22"/>
          <p:cNvSpPr/>
          <p:nvPr/>
        </p:nvSpPr>
        <p:spPr>
          <a:xfrm>
            <a:off x="6858000" y="6353175"/>
            <a:ext cx="2710726"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5D5650"/>
                </a:solidFill>
                <a:latin typeface="Arial" pitchFamily="34" charset="0"/>
                <a:ea typeface="Arial" pitchFamily="34" charset="-122"/>
                <a:cs typeface="Arial" pitchFamily="34" charset="-120"/>
              </a:rPr>
              <a:t>Substantially achieved</a:t>
            </a:r>
            <a:endParaRPr lang="en-US" sz="1950" dirty="0"/>
          </a:p>
        </p:txBody>
      </p:sp>
      <p:sp>
        <p:nvSpPr>
          <p:cNvPr id="25" name="Text 23"/>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26" name="Text 24"/>
          <p:cNvSpPr/>
          <p:nvPr/>
        </p:nvSpPr>
        <p:spPr>
          <a:xfrm>
            <a:off x="13823007" y="9677400"/>
            <a:ext cx="386374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Skills Acquired</a:t>
            </a:r>
            <a:endParaRPr lang="en-US" sz="3750" dirty="0"/>
          </a:p>
        </p:txBody>
      </p:sp>
      <p:sp>
        <p:nvSpPr>
          <p:cNvPr id="4" name="Shape 2"/>
          <p:cNvSpPr/>
          <p:nvPr/>
        </p:nvSpPr>
        <p:spPr>
          <a:xfrm>
            <a:off x="952500" y="2333625"/>
            <a:ext cx="7924800" cy="19050"/>
          </a:xfrm>
          <a:prstGeom prst="rect">
            <a:avLst/>
          </a:prstGeom>
          <a:solidFill>
            <a:srgbClr val="181412"/>
          </a:solidFill>
          <a:ln/>
        </p:spPr>
      </p:sp>
      <p:sp>
        <p:nvSpPr>
          <p:cNvPr id="5" name="Text 3"/>
          <p:cNvSpPr/>
          <p:nvPr/>
        </p:nvSpPr>
        <p:spPr>
          <a:xfrm>
            <a:off x="952500" y="2505075"/>
            <a:ext cx="87172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81412"/>
                </a:solidFill>
                <a:latin typeface="Arial" pitchFamily="34" charset="0"/>
                <a:ea typeface="Arial" pitchFamily="34" charset="-122"/>
                <a:cs typeface="Arial" pitchFamily="34" charset="-120"/>
              </a:rPr>
              <a:t>Product &amp; UX</a:t>
            </a:r>
            <a:endParaRPr lang="en-US" sz="1950" dirty="0"/>
          </a:p>
        </p:txBody>
      </p:sp>
      <p:sp>
        <p:nvSpPr>
          <p:cNvPr id="6" name="Text 4"/>
          <p:cNvSpPr/>
          <p:nvPr/>
        </p:nvSpPr>
        <p:spPr>
          <a:xfrm>
            <a:off x="952500" y="2857500"/>
            <a:ext cx="816254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Discovery interviewing, information architecture, mobile-first layout</a:t>
            </a:r>
            <a:endParaRPr lang="en-US" sz="1950" dirty="0"/>
          </a:p>
        </p:txBody>
      </p:sp>
      <p:sp>
        <p:nvSpPr>
          <p:cNvPr id="7" name="Shape 5"/>
          <p:cNvSpPr/>
          <p:nvPr/>
        </p:nvSpPr>
        <p:spPr>
          <a:xfrm>
            <a:off x="9410700" y="2333625"/>
            <a:ext cx="7924800" cy="19050"/>
          </a:xfrm>
          <a:prstGeom prst="rect">
            <a:avLst/>
          </a:prstGeom>
          <a:solidFill>
            <a:srgbClr val="181412"/>
          </a:solidFill>
          <a:ln/>
        </p:spPr>
      </p:sp>
      <p:sp>
        <p:nvSpPr>
          <p:cNvPr id="8" name="Text 6"/>
          <p:cNvSpPr/>
          <p:nvPr/>
        </p:nvSpPr>
        <p:spPr>
          <a:xfrm>
            <a:off x="9410700" y="2505075"/>
            <a:ext cx="87172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81412"/>
                </a:solidFill>
                <a:latin typeface="Arial" pitchFamily="34" charset="0"/>
                <a:ea typeface="Arial" pitchFamily="34" charset="-122"/>
                <a:cs typeface="Arial" pitchFamily="34" charset="-120"/>
              </a:rPr>
              <a:t>Visual Design</a:t>
            </a:r>
            <a:endParaRPr lang="en-US" sz="1950" dirty="0"/>
          </a:p>
        </p:txBody>
      </p:sp>
      <p:sp>
        <p:nvSpPr>
          <p:cNvPr id="9" name="Text 7"/>
          <p:cNvSpPr/>
          <p:nvPr/>
        </p:nvSpPr>
        <p:spPr>
          <a:xfrm>
            <a:off x="9410700" y="2857500"/>
            <a:ext cx="816254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Design systems, type and spacing scales, component libraries in Figma</a:t>
            </a:r>
            <a:endParaRPr lang="en-US" sz="1950" dirty="0"/>
          </a:p>
        </p:txBody>
      </p:sp>
      <p:sp>
        <p:nvSpPr>
          <p:cNvPr id="10" name="Shape 8"/>
          <p:cNvSpPr/>
          <p:nvPr/>
        </p:nvSpPr>
        <p:spPr>
          <a:xfrm>
            <a:off x="952500" y="3657600"/>
            <a:ext cx="7924800" cy="19050"/>
          </a:xfrm>
          <a:prstGeom prst="rect">
            <a:avLst/>
          </a:prstGeom>
          <a:solidFill>
            <a:srgbClr val="181412"/>
          </a:solidFill>
          <a:ln/>
        </p:spPr>
      </p:sp>
      <p:sp>
        <p:nvSpPr>
          <p:cNvPr id="11" name="Text 9"/>
          <p:cNvSpPr/>
          <p:nvPr/>
        </p:nvSpPr>
        <p:spPr>
          <a:xfrm>
            <a:off x="952500" y="3829050"/>
            <a:ext cx="87172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81412"/>
                </a:solidFill>
                <a:latin typeface="Arial" pitchFamily="34" charset="0"/>
                <a:ea typeface="Arial" pitchFamily="34" charset="-122"/>
                <a:cs typeface="Arial" pitchFamily="34" charset="-120"/>
              </a:rPr>
              <a:t>Front End</a:t>
            </a:r>
            <a:endParaRPr lang="en-US" sz="1950" dirty="0"/>
          </a:p>
        </p:txBody>
      </p:sp>
      <p:sp>
        <p:nvSpPr>
          <p:cNvPr id="12" name="Text 10"/>
          <p:cNvSpPr/>
          <p:nvPr/>
        </p:nvSpPr>
        <p:spPr>
          <a:xfrm>
            <a:off x="952500" y="4181475"/>
            <a:ext cx="816254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Semantic HTML5, CSS Grid/Flexbox, Tailwind, progressive enhancement</a:t>
            </a:r>
            <a:endParaRPr lang="en-US" sz="1950" dirty="0"/>
          </a:p>
        </p:txBody>
      </p:sp>
      <p:sp>
        <p:nvSpPr>
          <p:cNvPr id="13" name="Shape 11"/>
          <p:cNvSpPr/>
          <p:nvPr/>
        </p:nvSpPr>
        <p:spPr>
          <a:xfrm>
            <a:off x="9410700" y="3657600"/>
            <a:ext cx="7924800" cy="19050"/>
          </a:xfrm>
          <a:prstGeom prst="rect">
            <a:avLst/>
          </a:prstGeom>
          <a:solidFill>
            <a:srgbClr val="181412"/>
          </a:solidFill>
          <a:ln/>
        </p:spPr>
      </p:sp>
      <p:sp>
        <p:nvSpPr>
          <p:cNvPr id="14" name="Text 12"/>
          <p:cNvSpPr/>
          <p:nvPr/>
        </p:nvSpPr>
        <p:spPr>
          <a:xfrm>
            <a:off x="9410700" y="3829050"/>
            <a:ext cx="87172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81412"/>
                </a:solidFill>
                <a:latin typeface="Arial" pitchFamily="34" charset="0"/>
                <a:ea typeface="Arial" pitchFamily="34" charset="-122"/>
                <a:cs typeface="Arial" pitchFamily="34" charset="-120"/>
              </a:rPr>
              <a:t>Back End</a:t>
            </a:r>
            <a:endParaRPr lang="en-US" sz="1950" dirty="0"/>
          </a:p>
        </p:txBody>
      </p:sp>
      <p:sp>
        <p:nvSpPr>
          <p:cNvPr id="15" name="Text 13"/>
          <p:cNvSpPr/>
          <p:nvPr/>
        </p:nvSpPr>
        <p:spPr>
          <a:xfrm>
            <a:off x="9410700" y="4181475"/>
            <a:ext cx="816254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Node.js and Express, routing, middleware, server-side templating, sessions</a:t>
            </a:r>
            <a:endParaRPr lang="en-US" sz="1950" dirty="0"/>
          </a:p>
        </p:txBody>
      </p:sp>
      <p:sp>
        <p:nvSpPr>
          <p:cNvPr id="16" name="Shape 14"/>
          <p:cNvSpPr/>
          <p:nvPr/>
        </p:nvSpPr>
        <p:spPr>
          <a:xfrm>
            <a:off x="952500" y="4981575"/>
            <a:ext cx="7924800" cy="19050"/>
          </a:xfrm>
          <a:prstGeom prst="rect">
            <a:avLst/>
          </a:prstGeom>
          <a:solidFill>
            <a:srgbClr val="181412"/>
          </a:solidFill>
          <a:ln/>
        </p:spPr>
      </p:sp>
      <p:sp>
        <p:nvSpPr>
          <p:cNvPr id="17" name="Text 15"/>
          <p:cNvSpPr/>
          <p:nvPr/>
        </p:nvSpPr>
        <p:spPr>
          <a:xfrm>
            <a:off x="952500" y="5153025"/>
            <a:ext cx="87172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81412"/>
                </a:solidFill>
                <a:latin typeface="Arial" pitchFamily="34" charset="0"/>
                <a:ea typeface="Arial" pitchFamily="34" charset="-122"/>
                <a:cs typeface="Arial" pitchFamily="34" charset="-120"/>
              </a:rPr>
              <a:t>Data</a:t>
            </a:r>
            <a:endParaRPr lang="en-US" sz="1950" dirty="0"/>
          </a:p>
        </p:txBody>
      </p:sp>
      <p:sp>
        <p:nvSpPr>
          <p:cNvPr id="18" name="Text 16"/>
          <p:cNvSpPr/>
          <p:nvPr/>
        </p:nvSpPr>
        <p:spPr>
          <a:xfrm>
            <a:off x="952500" y="5505450"/>
            <a:ext cx="816254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Relational modelling, normalisation, parameterised queries, migrations</a:t>
            </a:r>
            <a:endParaRPr lang="en-US" sz="1950" dirty="0"/>
          </a:p>
        </p:txBody>
      </p:sp>
      <p:sp>
        <p:nvSpPr>
          <p:cNvPr id="19" name="Shape 17"/>
          <p:cNvSpPr/>
          <p:nvPr/>
        </p:nvSpPr>
        <p:spPr>
          <a:xfrm>
            <a:off x="9410700" y="4981575"/>
            <a:ext cx="7924800" cy="19050"/>
          </a:xfrm>
          <a:prstGeom prst="rect">
            <a:avLst/>
          </a:prstGeom>
          <a:solidFill>
            <a:srgbClr val="181412"/>
          </a:solidFill>
          <a:ln/>
        </p:spPr>
      </p:sp>
      <p:sp>
        <p:nvSpPr>
          <p:cNvPr id="20" name="Text 18"/>
          <p:cNvSpPr/>
          <p:nvPr/>
        </p:nvSpPr>
        <p:spPr>
          <a:xfrm>
            <a:off x="9410700" y="5153025"/>
            <a:ext cx="87172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81412"/>
                </a:solidFill>
                <a:latin typeface="Arial" pitchFamily="34" charset="0"/>
                <a:ea typeface="Arial" pitchFamily="34" charset="-122"/>
                <a:cs typeface="Arial" pitchFamily="34" charset="-120"/>
              </a:rPr>
              <a:t>Security</a:t>
            </a:r>
            <a:endParaRPr lang="en-US" sz="1950" dirty="0"/>
          </a:p>
        </p:txBody>
      </p:sp>
      <p:sp>
        <p:nvSpPr>
          <p:cNvPr id="21" name="Text 19"/>
          <p:cNvSpPr/>
          <p:nvPr/>
        </p:nvSpPr>
        <p:spPr>
          <a:xfrm>
            <a:off x="9410700" y="5505450"/>
            <a:ext cx="816254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Input validation, injection/XSS defence, password hashing, security headers</a:t>
            </a:r>
            <a:endParaRPr lang="en-US" sz="1950" dirty="0"/>
          </a:p>
        </p:txBody>
      </p:sp>
      <p:sp>
        <p:nvSpPr>
          <p:cNvPr id="22" name="Shape 20"/>
          <p:cNvSpPr/>
          <p:nvPr/>
        </p:nvSpPr>
        <p:spPr>
          <a:xfrm>
            <a:off x="952500" y="6305550"/>
            <a:ext cx="7924800" cy="19050"/>
          </a:xfrm>
          <a:prstGeom prst="rect">
            <a:avLst/>
          </a:prstGeom>
          <a:solidFill>
            <a:srgbClr val="181412"/>
          </a:solidFill>
          <a:ln/>
        </p:spPr>
      </p:sp>
      <p:sp>
        <p:nvSpPr>
          <p:cNvPr id="23" name="Text 21"/>
          <p:cNvSpPr/>
          <p:nvPr/>
        </p:nvSpPr>
        <p:spPr>
          <a:xfrm>
            <a:off x="952500" y="6477000"/>
            <a:ext cx="87172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81412"/>
                </a:solidFill>
                <a:latin typeface="Arial" pitchFamily="34" charset="0"/>
                <a:ea typeface="Arial" pitchFamily="34" charset="-122"/>
                <a:cs typeface="Arial" pitchFamily="34" charset="-120"/>
              </a:rPr>
              <a:t>Performance &amp; SEO</a:t>
            </a:r>
            <a:endParaRPr lang="en-US" sz="1950" dirty="0"/>
          </a:p>
        </p:txBody>
      </p:sp>
      <p:sp>
        <p:nvSpPr>
          <p:cNvPr id="24" name="Text 22"/>
          <p:cNvSpPr/>
          <p:nvPr/>
        </p:nvSpPr>
        <p:spPr>
          <a:xfrm>
            <a:off x="952500" y="6829425"/>
            <a:ext cx="816254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Responsive images, caching, structured data, analytics and conversion events</a:t>
            </a:r>
            <a:endParaRPr lang="en-US" sz="1950" dirty="0"/>
          </a:p>
        </p:txBody>
      </p:sp>
      <p:sp>
        <p:nvSpPr>
          <p:cNvPr id="25" name="Shape 23"/>
          <p:cNvSpPr/>
          <p:nvPr/>
        </p:nvSpPr>
        <p:spPr>
          <a:xfrm>
            <a:off x="9410700" y="6305550"/>
            <a:ext cx="7924800" cy="19050"/>
          </a:xfrm>
          <a:prstGeom prst="rect">
            <a:avLst/>
          </a:prstGeom>
          <a:solidFill>
            <a:srgbClr val="181412"/>
          </a:solidFill>
          <a:ln/>
        </p:spPr>
      </p:sp>
      <p:sp>
        <p:nvSpPr>
          <p:cNvPr id="26" name="Text 24"/>
          <p:cNvSpPr/>
          <p:nvPr/>
        </p:nvSpPr>
        <p:spPr>
          <a:xfrm>
            <a:off x="9410700" y="6477000"/>
            <a:ext cx="87172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81412"/>
                </a:solidFill>
                <a:latin typeface="Arial" pitchFamily="34" charset="0"/>
                <a:ea typeface="Arial" pitchFamily="34" charset="-122"/>
                <a:cs typeface="Arial" pitchFamily="34" charset="-120"/>
              </a:rPr>
              <a:t>Professional Practice</a:t>
            </a:r>
            <a:endParaRPr lang="en-US" sz="1950" dirty="0"/>
          </a:p>
        </p:txBody>
      </p:sp>
      <p:sp>
        <p:nvSpPr>
          <p:cNvPr id="27" name="Text 25"/>
          <p:cNvSpPr/>
          <p:nvPr/>
        </p:nvSpPr>
        <p:spPr>
          <a:xfrm>
            <a:off x="9410700" y="6829425"/>
            <a:ext cx="8162544" cy="609600"/>
          </a:xfrm>
          <a:prstGeom prst="rect">
            <a:avLst/>
          </a:prstGeom>
          <a:noFill/>
          <a:ln/>
        </p:spPr>
        <p:txBody>
          <a:bodyPr wrap="square" lIns="25400" tIns="25400" rIns="25400" bIns="25400" rtlCol="0" anchor="t">
            <a:normAutofit/>
          </a:bodyPr>
          <a:lstStyle/>
          <a:p>
            <a:pPr algn="l" indent="0" marL="0">
              <a:buNone/>
            </a:pPr>
            <a:r>
              <a:rPr lang="en-US" sz="1950" dirty="0">
                <a:solidFill>
                  <a:srgbClr val="5D5650"/>
                </a:solidFill>
                <a:latin typeface="Arial" pitchFamily="34" charset="0"/>
                <a:ea typeface="Arial" pitchFamily="34" charset="-122"/>
                <a:cs typeface="Arial" pitchFamily="34" charset="-120"/>
              </a:rPr>
              <a:t>Client communication, scope negotiation, technical writing for non-technical readers</a:t>
            </a:r>
            <a:endParaRPr lang="en-US" sz="1950" dirty="0"/>
          </a:p>
        </p:txBody>
      </p:sp>
      <p:sp>
        <p:nvSpPr>
          <p:cNvPr id="28" name="Text 26"/>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29" name="Text 27"/>
          <p:cNvSpPr/>
          <p:nvPr/>
        </p:nvSpPr>
        <p:spPr>
          <a:xfrm>
            <a:off x="13829556" y="9677400"/>
            <a:ext cx="385653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15</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Challenges and Limitations</a:t>
            </a:r>
            <a:endParaRPr lang="en-US" sz="3750" dirty="0"/>
          </a:p>
        </p:txBody>
      </p:sp>
      <p:sp>
        <p:nvSpPr>
          <p:cNvPr id="4" name="Shape 2"/>
          <p:cNvSpPr/>
          <p:nvPr/>
        </p:nvSpPr>
        <p:spPr>
          <a:xfrm>
            <a:off x="952500" y="2466975"/>
            <a:ext cx="76200" cy="76200"/>
          </a:xfrm>
          <a:prstGeom prst="ellipse">
            <a:avLst/>
          </a:prstGeom>
          <a:solidFill>
            <a:srgbClr val="B0592B"/>
          </a:solidFill>
          <a:ln/>
        </p:spPr>
      </p:sp>
      <p:sp>
        <p:nvSpPr>
          <p:cNvPr id="5" name="Text 3"/>
          <p:cNvSpPr/>
          <p:nvPr/>
        </p:nvSpPr>
        <p:spPr>
          <a:xfrm>
            <a:off x="1257300" y="2333625"/>
            <a:ext cx="15873794"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Working to a design-led client: feedback arrived as judgement (“a layout felt crowded”) rather than specification — converting that into a spacing token took most of Phase 1</a:t>
            </a:r>
            <a:endParaRPr lang="en-US" sz="2175" dirty="0"/>
          </a:p>
        </p:txBody>
      </p:sp>
      <p:sp>
        <p:nvSpPr>
          <p:cNvPr id="6" name="Shape 4"/>
          <p:cNvSpPr/>
          <p:nvPr/>
        </p:nvSpPr>
        <p:spPr>
          <a:xfrm>
            <a:off x="952500" y="3487936"/>
            <a:ext cx="76200" cy="76200"/>
          </a:xfrm>
          <a:prstGeom prst="ellipse">
            <a:avLst/>
          </a:prstGeom>
          <a:solidFill>
            <a:srgbClr val="B0592B"/>
          </a:solidFill>
          <a:ln/>
        </p:spPr>
      </p:sp>
      <p:sp>
        <p:nvSpPr>
          <p:cNvPr id="7" name="Text 5"/>
          <p:cNvSpPr/>
          <p:nvPr/>
        </p:nvSpPr>
        <p:spPr>
          <a:xfrm>
            <a:off x="1257300" y="3354586"/>
            <a:ext cx="15873794"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Photography varied widely in resolution and quality; since reshooting was not possible, the pipeline and layouts were designed to tolerate inconsistent crops</a:t>
            </a:r>
            <a:endParaRPr lang="en-US" sz="2175" dirty="0"/>
          </a:p>
        </p:txBody>
      </p:sp>
      <p:sp>
        <p:nvSpPr>
          <p:cNvPr id="8" name="Shape 6"/>
          <p:cNvSpPr/>
          <p:nvPr/>
        </p:nvSpPr>
        <p:spPr>
          <a:xfrm>
            <a:off x="952500" y="4508897"/>
            <a:ext cx="76200" cy="76200"/>
          </a:xfrm>
          <a:prstGeom prst="ellipse">
            <a:avLst/>
          </a:prstGeom>
          <a:solidFill>
            <a:srgbClr val="B0592B"/>
          </a:solidFill>
          <a:ln/>
        </p:spPr>
      </p:sp>
      <p:sp>
        <p:nvSpPr>
          <p:cNvPr id="9" name="Text 7"/>
          <p:cNvSpPr/>
          <p:nvPr/>
        </p:nvSpPr>
        <p:spPr>
          <a:xfrm>
            <a:off x="1257300" y="4375547"/>
            <a:ext cx="15873794"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Content was the bottleneck: writing project descriptions competed with senior staff time on live projects, so the archive launched with fewer projects than designed to hold</a:t>
            </a:r>
            <a:endParaRPr lang="en-US" sz="2175" dirty="0"/>
          </a:p>
        </p:txBody>
      </p:sp>
      <p:sp>
        <p:nvSpPr>
          <p:cNvPr id="10" name="Shape 8"/>
          <p:cNvSpPr/>
          <p:nvPr/>
        </p:nvSpPr>
        <p:spPr>
          <a:xfrm>
            <a:off x="952500" y="5529858"/>
            <a:ext cx="76200" cy="76200"/>
          </a:xfrm>
          <a:prstGeom prst="ellipse">
            <a:avLst/>
          </a:prstGeom>
          <a:solidFill>
            <a:srgbClr val="B0592B"/>
          </a:solidFill>
          <a:ln/>
        </p:spPr>
      </p:sp>
      <p:sp>
        <p:nvSpPr>
          <p:cNvPr id="11" name="Text 9"/>
          <p:cNvSpPr/>
          <p:nvPr/>
        </p:nvSpPr>
        <p:spPr>
          <a:xfrm>
            <a:off x="1257300" y="5396508"/>
            <a:ext cx="15873794"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Working alone across design, front end, back end and deployment meant no second technical opinion — mitigated with a checklist and self-review before every merge</a:t>
            </a:r>
            <a:endParaRPr lang="en-US" sz="2175" dirty="0"/>
          </a:p>
        </p:txBody>
      </p:sp>
      <p:sp>
        <p:nvSpPr>
          <p:cNvPr id="12" name="Shape 10"/>
          <p:cNvSpPr/>
          <p:nvPr/>
        </p:nvSpPr>
        <p:spPr>
          <a:xfrm>
            <a:off x="952500" y="6550819"/>
            <a:ext cx="76200" cy="76200"/>
          </a:xfrm>
          <a:prstGeom prst="ellipse">
            <a:avLst/>
          </a:prstGeom>
          <a:solidFill>
            <a:srgbClr val="B0592B"/>
          </a:solidFill>
          <a:ln/>
        </p:spPr>
      </p:sp>
      <p:sp>
        <p:nvSpPr>
          <p:cNvPr id="13" name="Text 11"/>
          <p:cNvSpPr/>
          <p:nvPr/>
        </p:nvSpPr>
        <p:spPr>
          <a:xfrm>
            <a:off x="1257300" y="6417469"/>
            <a:ext cx="15873794"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Full accessibility conformance and search ranking both depend on effort that continues after handover, not on the code delivered within the internship</a:t>
            </a:r>
            <a:endParaRPr lang="en-US" sz="2175" dirty="0"/>
          </a:p>
        </p:txBody>
      </p:sp>
      <p:sp>
        <p:nvSpPr>
          <p:cNvPr id="14" name="Text 12"/>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15" name="Text 13"/>
          <p:cNvSpPr/>
          <p:nvPr/>
        </p:nvSpPr>
        <p:spPr>
          <a:xfrm>
            <a:off x="13823603" y="9677400"/>
            <a:ext cx="386308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16</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Future Scope</a:t>
            </a:r>
            <a:endParaRPr lang="en-US" sz="3750" dirty="0"/>
          </a:p>
        </p:txBody>
      </p:sp>
      <p:sp>
        <p:nvSpPr>
          <p:cNvPr id="4" name="Shape 2"/>
          <p:cNvSpPr/>
          <p:nvPr/>
        </p:nvSpPr>
        <p:spPr>
          <a:xfrm>
            <a:off x="952500" y="2466975"/>
            <a:ext cx="76200" cy="76200"/>
          </a:xfrm>
          <a:prstGeom prst="ellipse">
            <a:avLst/>
          </a:prstGeom>
          <a:solidFill>
            <a:srgbClr val="B0592B"/>
          </a:solidFill>
          <a:ln/>
        </p:spPr>
      </p:sp>
      <p:sp>
        <p:nvSpPr>
          <p:cNvPr id="5" name="Text 3"/>
          <p:cNvSpPr/>
          <p:nvPr/>
        </p:nvSpPr>
        <p:spPr>
          <a:xfrm>
            <a:off x="1257300" y="2333625"/>
            <a:ext cx="15873794"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b="1" dirty="0">
                <a:solidFill>
                  <a:srgbClr val="181412"/>
                </a:solidFill>
                <a:latin typeface="Arial" pitchFamily="34" charset="0"/>
                <a:ea typeface="Arial" pitchFamily="34" charset="-122"/>
                <a:cs typeface="Arial" pitchFamily="34" charset="-120"/>
              </a:rPr>
              <a:t>A client project portal </a:t>
            </a:r>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 per-client login showing stage of work, approved drawings and payment milestones; the existing schema and authentication already support most of it</a:t>
            </a:r>
            <a:endParaRPr lang="en-US" sz="2175" dirty="0"/>
          </a:p>
        </p:txBody>
      </p:sp>
      <p:sp>
        <p:nvSpPr>
          <p:cNvPr id="6" name="Shape 4"/>
          <p:cNvSpPr/>
          <p:nvPr/>
        </p:nvSpPr>
        <p:spPr>
          <a:xfrm>
            <a:off x="952500" y="3487936"/>
            <a:ext cx="76200" cy="76200"/>
          </a:xfrm>
          <a:prstGeom prst="ellipse">
            <a:avLst/>
          </a:prstGeom>
          <a:solidFill>
            <a:srgbClr val="B0592B"/>
          </a:solidFill>
          <a:ln/>
        </p:spPr>
      </p:sp>
      <p:sp>
        <p:nvSpPr>
          <p:cNvPr id="7" name="Text 5"/>
          <p:cNvSpPr/>
          <p:nvPr/>
        </p:nvSpPr>
        <p:spPr>
          <a:xfrm>
            <a:off x="1257300" y="3354586"/>
            <a:ext cx="14897695"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b="1" dirty="0">
                <a:solidFill>
                  <a:srgbClr val="181412"/>
                </a:solidFill>
                <a:latin typeface="Arial" pitchFamily="34" charset="0"/>
                <a:ea typeface="Arial" pitchFamily="34" charset="-122"/>
                <a:cs typeface="Arial" pitchFamily="34" charset="-120"/>
              </a:rPr>
              <a:t>A Map Approval process tracker </a:t>
            </a:r>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 a public tracker showing submission stage and required documents</a:t>
            </a:r>
            <a:endParaRPr lang="en-US" sz="2175" dirty="0"/>
          </a:p>
        </p:txBody>
      </p:sp>
      <p:sp>
        <p:nvSpPr>
          <p:cNvPr id="8" name="Shape 6"/>
          <p:cNvSpPr/>
          <p:nvPr/>
        </p:nvSpPr>
        <p:spPr>
          <a:xfrm>
            <a:off x="952500" y="4122241"/>
            <a:ext cx="76200" cy="76200"/>
          </a:xfrm>
          <a:prstGeom prst="ellipse">
            <a:avLst/>
          </a:prstGeom>
          <a:solidFill>
            <a:srgbClr val="B0592B"/>
          </a:solidFill>
          <a:ln/>
        </p:spPr>
      </p:sp>
      <p:sp>
        <p:nvSpPr>
          <p:cNvPr id="9" name="Text 7"/>
          <p:cNvSpPr/>
          <p:nvPr/>
        </p:nvSpPr>
        <p:spPr>
          <a:xfrm>
            <a:off x="1257300" y="3988891"/>
            <a:ext cx="15873794"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b="1" dirty="0">
                <a:solidFill>
                  <a:srgbClr val="181412"/>
                </a:solidFill>
                <a:latin typeface="Arial" pitchFamily="34" charset="0"/>
                <a:ea typeface="Arial" pitchFamily="34" charset="-122"/>
                <a:cs typeface="Arial" pitchFamily="34" charset="-120"/>
              </a:rPr>
              <a:t>Enquiry analytics </a:t>
            </a:r>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 a dashboard reading the data already captured: volume by service, by month, and time to first response</a:t>
            </a:r>
            <a:endParaRPr lang="en-US" sz="2175" dirty="0"/>
          </a:p>
        </p:txBody>
      </p:sp>
      <p:sp>
        <p:nvSpPr>
          <p:cNvPr id="10" name="Shape 8"/>
          <p:cNvSpPr/>
          <p:nvPr/>
        </p:nvSpPr>
        <p:spPr>
          <a:xfrm>
            <a:off x="952500" y="5143202"/>
            <a:ext cx="76200" cy="76200"/>
          </a:xfrm>
          <a:prstGeom prst="ellipse">
            <a:avLst/>
          </a:prstGeom>
          <a:solidFill>
            <a:srgbClr val="B0592B"/>
          </a:solidFill>
          <a:ln/>
        </p:spPr>
      </p:sp>
      <p:sp>
        <p:nvSpPr>
          <p:cNvPr id="11" name="Text 9"/>
          <p:cNvSpPr/>
          <p:nvPr/>
        </p:nvSpPr>
        <p:spPr>
          <a:xfrm>
            <a:off x="1257300" y="5009852"/>
            <a:ext cx="15873794"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b="1" dirty="0">
                <a:solidFill>
                  <a:srgbClr val="181412"/>
                </a:solidFill>
                <a:latin typeface="Arial" pitchFamily="34" charset="0"/>
                <a:ea typeface="Arial" pitchFamily="34" charset="-122"/>
                <a:cs typeface="Arial" pitchFamily="34" charset="-120"/>
              </a:rPr>
              <a:t>Editorial content and a structured photography standard </a:t>
            </a:r>
            <a:pPr algn="l" indent="0" marL="0">
              <a:lnSpc>
                <a:spcPct val="123030"/>
              </a:lnSpc>
              <a:buNone/>
            </a:pPr>
            <a:r>
              <a:rPr lang="en-US" sz="2175" dirty="0">
                <a:solidFill>
                  <a:srgbClr val="181412"/>
                </a:solidFill>
                <a:latin typeface="Arial" pitchFamily="34" charset="0"/>
                <a:ea typeface="Arial" pitchFamily="34" charset="-122"/>
                <a:cs typeface="Arial" pitchFamily="34" charset="-120"/>
              </a:rPr>
              <a:t>— case studies for local search, and a shooting brief to fix inconsistency at the source</a:t>
            </a:r>
            <a:endParaRPr lang="en-US" sz="2175" dirty="0"/>
          </a:p>
        </p:txBody>
      </p:sp>
      <p:sp>
        <p:nvSpPr>
          <p:cNvPr id="12" name="Text 10"/>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13" name="Text 11"/>
          <p:cNvSpPr/>
          <p:nvPr/>
        </p:nvSpPr>
        <p:spPr>
          <a:xfrm>
            <a:off x="13834467" y="9677400"/>
            <a:ext cx="385113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17</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8F5"/>
        </a:solidFill>
      </p:bgPr>
    </p:bg>
    <p:spTree>
      <p:nvGrpSpPr>
        <p:cNvPr id="1" name=""/>
        <p:cNvGrpSpPr/>
        <p:nvPr/>
      </p:nvGrpSpPr>
      <p:grpSpPr>
        <a:xfrm>
          <a:off x="0" y="0"/>
          <a:ext cx="0" cy="0"/>
          <a:chOff x="0" y="0"/>
          <a:chExt cx="0" cy="0"/>
        </a:xfrm>
      </p:grpSpPr>
      <p:sp>
        <p:nvSpPr>
          <p:cNvPr id="2" name="Text 0"/>
          <p:cNvSpPr/>
          <p:nvPr/>
        </p:nvSpPr>
        <p:spPr>
          <a:xfrm>
            <a:off x="952500" y="914400"/>
            <a:ext cx="1802130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B0592B"/>
                </a:solidFill>
                <a:latin typeface="Arial" pitchFamily="34" charset="0"/>
                <a:ea typeface="Arial" pitchFamily="34" charset="-122"/>
                <a:cs typeface="Arial" pitchFamily="34" charset="-120"/>
              </a:rPr>
              <a:t>PROJECT DESCRIPTION</a:t>
            </a:r>
            <a:endParaRPr lang="en-US" sz="1950" dirty="0"/>
          </a:p>
        </p:txBody>
      </p:sp>
      <p:sp>
        <p:nvSpPr>
          <p:cNvPr id="3" name="Text 1"/>
          <p:cNvSpPr/>
          <p:nvPr/>
        </p:nvSpPr>
        <p:spPr>
          <a:xfrm>
            <a:off x="952500" y="1343025"/>
            <a:ext cx="18021300" cy="647700"/>
          </a:xfrm>
          <a:prstGeom prst="rect">
            <a:avLst/>
          </a:prstGeom>
          <a:noFill/>
          <a:ln/>
        </p:spPr>
        <p:txBody>
          <a:bodyPr wrap="square" lIns="25400" tIns="25400" rIns="25400" bIns="25400" rtlCol="0" anchor="t">
            <a:normAutofit/>
          </a:bodyPr>
          <a:lstStyle/>
          <a:p>
            <a:pPr algn="l" indent="0" marL="0">
              <a:buNone/>
            </a:pPr>
            <a:r>
              <a:rPr lang="en-US" sz="3750" b="1" dirty="0">
                <a:solidFill>
                  <a:srgbClr val="181412"/>
                </a:solidFill>
                <a:latin typeface="Georgia" pitchFamily="34" charset="0"/>
                <a:ea typeface="Georgia" pitchFamily="34" charset="-122"/>
                <a:cs typeface="Georgia" pitchFamily="34" charset="-120"/>
              </a:rPr>
              <a:t>Conclusion</a:t>
            </a:r>
            <a:endParaRPr lang="en-US" sz="3750" dirty="0"/>
          </a:p>
        </p:txBody>
      </p:sp>
      <p:sp>
        <p:nvSpPr>
          <p:cNvPr id="4" name="Text 2"/>
          <p:cNvSpPr/>
          <p:nvPr/>
        </p:nvSpPr>
        <p:spPr>
          <a:xfrm>
            <a:off x="952500" y="2333625"/>
            <a:ext cx="15697200" cy="1281113"/>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181412"/>
                </a:solidFill>
                <a:latin typeface="Arial" pitchFamily="34" charset="0"/>
                <a:ea typeface="Arial" pitchFamily="34" charset="-122"/>
                <a:cs typeface="Arial" pitchFamily="34" charset="-120"/>
              </a:rPr>
              <a:t>The six-month internship at Limitless Spacez delivered a live, database-driven web platform, the design system it is built on, the enquiry pipeline that captures its leads, the administration panel through which its staff maintain it, and the documentation that lets all of this continue without me.</a:t>
            </a:r>
            <a:endParaRPr lang="en-US" sz="2175" dirty="0"/>
          </a:p>
        </p:txBody>
      </p:sp>
      <p:sp>
        <p:nvSpPr>
          <p:cNvPr id="5" name="Text 3"/>
          <p:cNvSpPr/>
          <p:nvPr/>
        </p:nvSpPr>
        <p:spPr>
          <a:xfrm>
            <a:off x="952500" y="3824288"/>
            <a:ext cx="15697200" cy="1281113"/>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181412"/>
                </a:solidFill>
                <a:latin typeface="Arial" pitchFamily="34" charset="0"/>
                <a:ea typeface="Arial" pitchFamily="34" charset="-122"/>
                <a:cs typeface="Arial" pitchFamily="34" charset="-120"/>
              </a:rPr>
              <a:t>A platform that cannot be maintained by the people who own it will decay regardless of how well it is engineered — which is why the administration panel and the handover documentation are the parts of this project I would defend first.</a:t>
            </a:r>
            <a:endParaRPr lang="en-US" sz="2175" dirty="0"/>
          </a:p>
        </p:txBody>
      </p:sp>
      <p:sp>
        <p:nvSpPr>
          <p:cNvPr id="6" name="Text 4"/>
          <p:cNvSpPr/>
          <p:nvPr/>
        </p:nvSpPr>
        <p:spPr>
          <a:xfrm>
            <a:off x="952500" y="5314950"/>
            <a:ext cx="15697200" cy="1281113"/>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5D5650"/>
                </a:solidFill>
                <a:latin typeface="Arial" pitchFamily="34" charset="0"/>
                <a:ea typeface="Arial" pitchFamily="34" charset="-122"/>
                <a:cs typeface="Arial" pitchFamily="34" charset="-120"/>
              </a:rPr>
              <a:t>This was the first occasion my work was used by people who had not asked how it was built and did not need to care. Applying that standard is the most useful thing I take from these six months into the remainder of my degree.</a:t>
            </a:r>
            <a:endParaRPr lang="en-US" sz="2175" dirty="0"/>
          </a:p>
        </p:txBody>
      </p:sp>
      <p:sp>
        <p:nvSpPr>
          <p:cNvPr id="7" name="Text 5"/>
          <p:cNvSpPr/>
          <p:nvPr/>
        </p:nvSpPr>
        <p:spPr>
          <a:xfrm>
            <a:off x="952500" y="9677400"/>
            <a:ext cx="446177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Limitless Spacez · Internship Report</a:t>
            </a:r>
            <a:endParaRPr lang="en-US" sz="1800" dirty="0"/>
          </a:p>
        </p:txBody>
      </p:sp>
      <p:sp>
        <p:nvSpPr>
          <p:cNvPr id="8" name="Text 6"/>
          <p:cNvSpPr/>
          <p:nvPr/>
        </p:nvSpPr>
        <p:spPr>
          <a:xfrm>
            <a:off x="13821817" y="9677400"/>
            <a:ext cx="386505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D5650"/>
                </a:solidFill>
                <a:latin typeface="Arial" pitchFamily="34" charset="0"/>
                <a:ea typeface="Arial" pitchFamily="34" charset="-122"/>
                <a:cs typeface="Arial" pitchFamily="34" charset="-120"/>
              </a:rPr>
              <a:t>Shobhit Singh · 2410030993 · 18</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81412"/>
        </a:solidFill>
      </p:bgPr>
    </p:bg>
    <p:spTree>
      <p:nvGrpSpPr>
        <p:cNvPr id="1" name=""/>
        <p:cNvGrpSpPr/>
        <p:nvPr/>
      </p:nvGrpSpPr>
      <p:grpSpPr>
        <a:xfrm>
          <a:off x="0" y="0"/>
          <a:ext cx="0" cy="0"/>
          <a:chOff x="0" y="0"/>
          <a:chExt cx="0" cy="0"/>
        </a:xfrm>
      </p:grpSpPr>
      <p:sp>
        <p:nvSpPr>
          <p:cNvPr id="2" name="Text 0"/>
          <p:cNvSpPr/>
          <p:nvPr/>
        </p:nvSpPr>
        <p:spPr>
          <a:xfrm>
            <a:off x="952500" y="4176712"/>
            <a:ext cx="18021300" cy="962025"/>
          </a:xfrm>
          <a:prstGeom prst="rect">
            <a:avLst/>
          </a:prstGeom>
          <a:noFill/>
          <a:ln/>
        </p:spPr>
        <p:txBody>
          <a:bodyPr wrap="square" lIns="25400" tIns="25400" rIns="25400" bIns="25400" rtlCol="0" anchor="t">
            <a:normAutofit/>
          </a:bodyPr>
          <a:lstStyle/>
          <a:p>
            <a:pPr algn="l" indent="0" marL="0">
              <a:buNone/>
            </a:pPr>
            <a:r>
              <a:rPr lang="en-US" sz="5700" b="1" dirty="0">
                <a:solidFill>
                  <a:srgbClr val="FDF8F5"/>
                </a:solidFill>
                <a:latin typeface="Georgia" pitchFamily="34" charset="0"/>
                <a:ea typeface="Georgia" pitchFamily="34" charset="-122"/>
                <a:cs typeface="Georgia" pitchFamily="34" charset="-120"/>
              </a:rPr>
              <a:t>Thank You</a:t>
            </a:r>
            <a:endParaRPr lang="en-US" sz="5700" dirty="0"/>
          </a:p>
        </p:txBody>
      </p:sp>
      <p:sp>
        <p:nvSpPr>
          <p:cNvPr id="3" name="Text 1"/>
          <p:cNvSpPr/>
          <p:nvPr/>
        </p:nvSpPr>
        <p:spPr>
          <a:xfrm>
            <a:off x="952500" y="5481638"/>
            <a:ext cx="18021300" cy="438150"/>
          </a:xfrm>
          <a:prstGeom prst="rect">
            <a:avLst/>
          </a:prstGeom>
          <a:noFill/>
          <a:ln/>
        </p:spPr>
        <p:txBody>
          <a:bodyPr wrap="square" lIns="25400" tIns="25400" rIns="25400" bIns="25400" rtlCol="0" anchor="t">
            <a:normAutofit/>
          </a:bodyPr>
          <a:lstStyle/>
          <a:p>
            <a:pPr algn="l" indent="0" marL="0">
              <a:buNone/>
            </a:pPr>
            <a:r>
              <a:rPr lang="en-US" sz="2700" dirty="0">
                <a:solidFill>
                  <a:srgbClr val="FDF8F5"/>
                </a:solidFill>
                <a:latin typeface="Arial" pitchFamily="34" charset="0"/>
                <a:ea typeface="Arial" pitchFamily="34" charset="-122"/>
                <a:cs typeface="Arial" pitchFamily="34" charset="-120"/>
              </a:rPr>
              <a:t>Shobhit Singh · 2410030993</a:t>
            </a:r>
            <a:endParaRPr lang="en-US" sz="2700" dirty="0"/>
          </a:p>
        </p:txBody>
      </p:sp>
      <p:sp>
        <p:nvSpPr>
          <p:cNvPr id="4" name="Text 2"/>
          <p:cNvSpPr/>
          <p:nvPr/>
        </p:nvSpPr>
        <p:spPr>
          <a:xfrm>
            <a:off x="952500" y="5976938"/>
            <a:ext cx="1802130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2ADA9"/>
                </a:solidFill>
                <a:latin typeface="Arial" pitchFamily="34" charset="0"/>
                <a:ea typeface="Arial" pitchFamily="34" charset="-122"/>
                <a:cs typeface="Arial" pitchFamily="34" charset="-120"/>
              </a:rPr>
              <a:t>Full-Stack Developer &amp; Design Intern, Limitless Spacez</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2026-08-30T21:53:12Z</dcterms:created>
  <dcterms:modified xsi:type="dcterms:W3CDTF">2026-08-30T21:53:12Z</dcterms:modified>
</cp:coreProperties>
</file>